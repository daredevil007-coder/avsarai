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embeddedFontLst>
    <p:embeddedFont>
      <p:font typeface="DM Sans Medium"/>
      <p:regular r:id="rId201314"/>
    </p:embeddedFont>
    <p:embeddedFont>
      <p:font typeface="DM Sans SemiBold"/>
      <p:regular r:id="rId201315"/>
    </p:embeddedFont>
    <p:embeddedFont>
      <p:font typeface="DM Sans Bold"/>
      <p:regular r:id="rId201316"/>
    </p:embeddedFont>
    <p:embeddedFont>
      <p:font typeface="DM Sans Black"/>
      <p:regular r:id="rId201317"/>
    </p:embeddedFont>
    <p:embeddedFont>
      <p:font typeface="Inter Medium"/>
      <p:regular r:id="rId201318"/>
    </p:embeddedFont>
    <p:embeddedFont>
      <p:font typeface="Inter SemiBold"/>
      <p:regular r:id="rId201319"/>
    </p:embeddedFont>
    <p:embeddedFont>
      <p:font typeface="Inter Bold"/>
      <p:regular r:id="rId201320"/>
    </p:embeddedFont>
    <p:embeddedFont>
      <p:font typeface="Inter Black"/>
      <p:regular r:id="rId2013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5F5"/>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5.png"/><Relationship Id="rId8" Type="http://schemas.openxmlformats.org/officeDocument/2006/relationships/image" Target="../media/image-2-6.sv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image" Target="../media/image-5-3.jpe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2415" y="622995"/>
            <a:ext cx="6597981" cy="5611912"/>
          </a:xfrm>
          <a:prstGeom prst="roundRect">
            <a:avLst>
              <a:gd name="adj" fmla="val 442"/>
            </a:avLst>
          </a:prstGeom>
          <a:solidFill>
            <a:srgbClr val="061B2A"/>
          </a:solidFill>
          <a:ln/>
        </p:spPr>
      </p:sp>
      <p:sp>
        <p:nvSpPr>
          <p:cNvPr id="3" name="Shape 1"/>
          <p:cNvSpPr/>
          <p:nvPr/>
        </p:nvSpPr>
        <p:spPr>
          <a:xfrm>
            <a:off x="707710" y="809030"/>
            <a:ext cx="1071833" cy="251420"/>
          </a:xfrm>
          <a:prstGeom prst="roundRect">
            <a:avLst>
              <a:gd name="adj" fmla="val 7894"/>
            </a:avLst>
          </a:prstGeom>
          <a:solidFill>
            <a:srgbClr val="0C4130"/>
          </a:solidFill>
          <a:ln/>
        </p:spPr>
      </p:sp>
      <p:sp>
        <p:nvSpPr>
          <p:cNvPr id="4" name="Text 2"/>
          <p:cNvSpPr/>
          <p:nvPr/>
        </p:nvSpPr>
        <p:spPr>
          <a:xfrm>
            <a:off x="806926" y="858639"/>
            <a:ext cx="1482986" cy="152202"/>
          </a:xfrm>
          <a:prstGeom prst="rect">
            <a:avLst/>
          </a:prstGeom>
          <a:noFill/>
          <a:ln/>
        </p:spPr>
        <p:txBody>
          <a:bodyPr wrap="none" lIns="0" tIns="0" rIns="0" bIns="0" rtlCol="0" anchor="t"/>
          <a:lstStyle/>
          <a:p>
            <a:pPr algn="l" indent="0" marL="0">
              <a:lnSpc>
                <a:spcPct val="96000"/>
              </a:lnSpc>
              <a:buNone/>
            </a:pPr>
            <a:r>
              <a:rPr lang="en-US" sz="1000" dirty="0">
                <a:solidFill>
                  <a:srgbClr val="464646"/>
                </a:solidFill>
                <a:latin typeface="Inter Medium" pitchFamily="34" charset="0"/>
                <a:ea typeface="Inter Medium" pitchFamily="34" charset="-122"/>
                <a:cs typeface="Inter Medium" pitchFamily="34" charset="-120"/>
              </a:rPr>
              <a:t>TECH TITANS</a:t>
            </a:r>
            <a:endParaRPr lang="en-US" sz="1000" dirty="0"/>
          </a:p>
        </p:txBody>
      </p:sp>
      <p:sp>
        <p:nvSpPr>
          <p:cNvPr id="5" name="Shape 3"/>
          <p:cNvSpPr/>
          <p:nvPr/>
        </p:nvSpPr>
        <p:spPr>
          <a:xfrm>
            <a:off x="1862190" y="809030"/>
            <a:ext cx="1745214" cy="251420"/>
          </a:xfrm>
          <a:prstGeom prst="roundRect">
            <a:avLst>
              <a:gd name="adj" fmla="val 7894"/>
            </a:avLst>
          </a:prstGeom>
          <a:solidFill>
            <a:srgbClr val="0C4130"/>
          </a:solidFill>
          <a:ln/>
        </p:spPr>
      </p:sp>
      <p:sp>
        <p:nvSpPr>
          <p:cNvPr id="6" name="Text 4"/>
          <p:cNvSpPr/>
          <p:nvPr/>
        </p:nvSpPr>
        <p:spPr>
          <a:xfrm>
            <a:off x="1961406" y="858639"/>
            <a:ext cx="2156366" cy="152202"/>
          </a:xfrm>
          <a:prstGeom prst="rect">
            <a:avLst/>
          </a:prstGeom>
          <a:noFill/>
          <a:ln/>
        </p:spPr>
        <p:txBody>
          <a:bodyPr wrap="none" lIns="0" tIns="0" rIns="0" bIns="0" rtlCol="0" anchor="t"/>
          <a:lstStyle/>
          <a:p>
            <a:pPr algn="l" indent="0" marL="0">
              <a:lnSpc>
                <a:spcPct val="96000"/>
              </a:lnSpc>
              <a:buNone/>
            </a:pPr>
            <a:r>
              <a:rPr lang="en-US" sz="1000" dirty="0">
                <a:solidFill>
                  <a:srgbClr val="464646"/>
                </a:solidFill>
                <a:latin typeface="Inter Medium" pitchFamily="34" charset="0"/>
                <a:ea typeface="Inter Medium" pitchFamily="34" charset="-122"/>
                <a:cs typeface="Inter Medium" pitchFamily="34" charset="-120"/>
              </a:rPr>
              <a:t>SIH 2026 · PS SIH26044</a:t>
            </a:r>
            <a:endParaRPr lang="en-US" sz="1000" dirty="0"/>
          </a:p>
        </p:txBody>
      </p:sp>
      <p:sp>
        <p:nvSpPr>
          <p:cNvPr id="7" name="Text 5"/>
          <p:cNvSpPr/>
          <p:nvPr/>
        </p:nvSpPr>
        <p:spPr>
          <a:xfrm>
            <a:off x="707710" y="1126530"/>
            <a:ext cx="6267392" cy="2067322"/>
          </a:xfrm>
          <a:prstGeom prst="rect">
            <a:avLst/>
          </a:prstGeom>
          <a:noFill/>
          <a:ln/>
        </p:spPr>
        <p:txBody>
          <a:bodyPr wrap="square" lIns="0" tIns="0" rIns="0" bIns="0" rtlCol="0" anchor="t">
            <a:normAutofit/>
          </a:bodyPr>
          <a:lstStyle/>
          <a:p>
            <a:pPr algn="l" indent="0" marL="0">
              <a:lnSpc>
                <a:spcPct val="104000"/>
              </a:lnSpc>
              <a:buNone/>
            </a:pPr>
            <a:r>
              <a:rPr lang="en-US" sz="6500" dirty="0">
                <a:solidFill>
                  <a:srgbClr val="FFFFFF"/>
                </a:solidFill>
                <a:latin typeface="DM Sans SemiBold" pitchFamily="34" charset="0"/>
                <a:ea typeface="DM Sans SemiBold" pitchFamily="34" charset="-122"/>
                <a:cs typeface="DM Sans SemiBold" pitchFamily="34" charset="-120"/>
              </a:rPr>
              <a:t>AvsarAI</a:t>
            </a:r>
            <a:endParaRPr lang="en-US" sz="6500" dirty="0"/>
          </a:p>
          <a:p>
            <a:pPr algn="l" indent="0" marL="0">
              <a:lnSpc>
                <a:spcPct val="104000"/>
              </a:lnSpc>
              <a:buNone/>
            </a:pPr>
            <a:r>
              <a:rPr lang="en-US" sz="6500" dirty="0">
                <a:solidFill>
                  <a:srgbClr val="FFFFFF"/>
                </a:solidFill>
                <a:latin typeface="DM Sans SemiBold" pitchFamily="34" charset="0"/>
                <a:ea typeface="DM Sans SemiBold" pitchFamily="34" charset="-122"/>
                <a:cs typeface="DM Sans SemiBold" pitchFamily="34" charset="-120"/>
              </a:rPr>
              <a:t>SkillBridge</a:t>
            </a:r>
            <a:endParaRPr lang="en-US" sz="6500" dirty="0"/>
          </a:p>
        </p:txBody>
      </p:sp>
      <p:sp>
        <p:nvSpPr>
          <p:cNvPr id="8" name="Text 6"/>
          <p:cNvSpPr/>
          <p:nvPr/>
        </p:nvSpPr>
        <p:spPr>
          <a:xfrm>
            <a:off x="707710" y="3359150"/>
            <a:ext cx="6267392"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Inter Medium" pitchFamily="34" charset="0"/>
                <a:ea typeface="Inter Medium" pitchFamily="34" charset="-122"/>
                <a:cs typeface="Inter Medium" pitchFamily="34" charset="-120"/>
              </a:rPr>
              <a:t>AI-Powered Academia–Industry Collaboration for Skills, Internships &amp; Placement</a:t>
            </a:r>
            <a:endParaRPr lang="en-US" sz="1300" dirty="0"/>
          </a:p>
        </p:txBody>
      </p:sp>
      <p:sp>
        <p:nvSpPr>
          <p:cNvPr id="9" name="Shape 7"/>
          <p:cNvSpPr/>
          <p:nvPr/>
        </p:nvSpPr>
        <p:spPr>
          <a:xfrm>
            <a:off x="707710" y="4115693"/>
            <a:ext cx="6267392" cy="19050"/>
          </a:xfrm>
          <a:prstGeom prst="roundRect">
            <a:avLst>
              <a:gd name="adj" fmla="val 49999"/>
            </a:avLst>
          </a:prstGeom>
          <a:solidFill>
            <a:srgbClr val="FFFFFF">
              <a:alpha val="50000"/>
            </a:srgbClr>
          </a:solidFill>
          <a:ln/>
        </p:spPr>
      </p:sp>
      <p:sp>
        <p:nvSpPr>
          <p:cNvPr id="10" name="Text 8"/>
          <p:cNvSpPr/>
          <p:nvPr/>
        </p:nvSpPr>
        <p:spPr>
          <a:xfrm>
            <a:off x="707710" y="4362053"/>
            <a:ext cx="6267392" cy="529233"/>
          </a:xfrm>
          <a:prstGeom prst="rect">
            <a:avLst/>
          </a:prstGeom>
          <a:noFill/>
          <a:ln/>
        </p:spPr>
        <p:txBody>
          <a:bodyPr wrap="square" lIns="0" tIns="0" rIns="0" bIns="0" rtlCol="0" anchor="t">
            <a:normAutofit/>
          </a:bodyPr>
          <a:lstStyle/>
          <a:p>
            <a:pPr algn="l" indent="0" marL="0">
              <a:lnSpc>
                <a:spcPct val="133000"/>
              </a:lnSpc>
              <a:buNone/>
            </a:pPr>
            <a:r>
              <a:rPr lang="en-US" sz="1300" b="1" dirty="0">
                <a:solidFill>
                  <a:srgbClr val="F2A900"/>
                </a:solidFill>
                <a:latin typeface="Inter Bold" pitchFamily="34" charset="0"/>
                <a:ea typeface="Inter Bold" pitchFamily="34" charset="-122"/>
                <a:cs typeface="Inter Bold" pitchFamily="34" charset="-120"/>
              </a:rPr>
              <a:t>Ministry of AvsarAI</a:t>
            </a:r>
            <a:pPr algn="l" indent="0" marL="0">
              <a:lnSpc>
                <a:spcPct val="133000"/>
              </a:lnSpc>
              <a:buNone/>
            </a:pPr>
            <a:r>
              <a:rPr lang="en-US" sz="1300" dirty="0">
                <a:solidFill>
                  <a:srgbClr val="FFFFFF"/>
                </a:solidFill>
                <a:latin typeface="Inter Medium" pitchFamily="34" charset="0"/>
                <a:ea typeface="Inter Medium" pitchFamily="34" charset="-122"/>
                <a:cs typeface="Inter Medium" pitchFamily="34" charset="-120"/>
              </a:rPr>
              <a:t>  |  Smart India Hackathon 2026  |  Problem Statement ID: </a:t>
            </a:r>
            <a:pPr algn="l" indent="0" marL="0">
              <a:lnSpc>
                <a:spcPct val="133000"/>
              </a:lnSpc>
              <a:buNone/>
            </a:pPr>
            <a:r>
              <a:rPr lang="en-US" sz="1300" b="1" dirty="0">
                <a:solidFill>
                  <a:srgbClr val="FFFFFF"/>
                </a:solidFill>
                <a:latin typeface="Inter Bold" pitchFamily="34" charset="0"/>
                <a:ea typeface="Inter Bold" pitchFamily="34" charset="-122"/>
                <a:cs typeface="Inter Bold" pitchFamily="34" charset="-120"/>
              </a:rPr>
              <a:t>SIH26044</a:t>
            </a:r>
            <a:endParaRPr lang="en-US" sz="1300" dirty="0"/>
          </a:p>
        </p:txBody>
      </p:sp>
      <p:sp>
        <p:nvSpPr>
          <p:cNvPr id="11" name="Shape 9"/>
          <p:cNvSpPr/>
          <p:nvPr/>
        </p:nvSpPr>
        <p:spPr>
          <a:xfrm>
            <a:off x="7431100" y="809030"/>
            <a:ext cx="4105371" cy="1548209"/>
          </a:xfrm>
          <a:prstGeom prst="roundRect">
            <a:avLst>
              <a:gd name="adj" fmla="val 1602"/>
            </a:avLst>
          </a:prstGeom>
          <a:solidFill>
            <a:srgbClr val="F2EEEE"/>
          </a:solidFill>
          <a:ln/>
        </p:spPr>
      </p:sp>
      <p:sp>
        <p:nvSpPr>
          <p:cNvPr id="12" name="Text 10"/>
          <p:cNvSpPr/>
          <p:nvPr/>
        </p:nvSpPr>
        <p:spPr>
          <a:xfrm>
            <a:off x="7596394" y="974328"/>
            <a:ext cx="3774782" cy="258465"/>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The Challenge</a:t>
            </a:r>
            <a:endParaRPr lang="en-US" sz="1600" dirty="0"/>
          </a:p>
        </p:txBody>
      </p:sp>
      <p:sp>
        <p:nvSpPr>
          <p:cNvPr id="13" name="Text 11"/>
          <p:cNvSpPr/>
          <p:nvPr/>
        </p:nvSpPr>
        <p:spPr>
          <a:xfrm>
            <a:off x="7596394" y="1398091"/>
            <a:ext cx="3774782"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AvsarAI graduates lack a structured bridge connecting academic skills to industry demand, internships, and verified placement pathways.</a:t>
            </a:r>
            <a:endParaRPr lang="en-US" sz="1300" dirty="0"/>
          </a:p>
        </p:txBody>
      </p:sp>
      <p:sp>
        <p:nvSpPr>
          <p:cNvPr id="14" name="Shape 12"/>
          <p:cNvSpPr/>
          <p:nvPr/>
        </p:nvSpPr>
        <p:spPr>
          <a:xfrm>
            <a:off x="7431100" y="2522537"/>
            <a:ext cx="4105371" cy="1548209"/>
          </a:xfrm>
          <a:prstGeom prst="roundRect">
            <a:avLst>
              <a:gd name="adj" fmla="val 1602"/>
            </a:avLst>
          </a:prstGeom>
          <a:solidFill>
            <a:srgbClr val="F2EEEE"/>
          </a:solidFill>
          <a:ln/>
        </p:spPr>
      </p:sp>
      <p:sp>
        <p:nvSpPr>
          <p:cNvPr id="15" name="Text 13"/>
          <p:cNvSpPr/>
          <p:nvPr/>
        </p:nvSpPr>
        <p:spPr>
          <a:xfrm>
            <a:off x="7596394" y="2687836"/>
            <a:ext cx="3774782" cy="258465"/>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The Opportunity</a:t>
            </a:r>
            <a:endParaRPr lang="en-US" sz="1600" dirty="0"/>
          </a:p>
        </p:txBody>
      </p:sp>
      <p:sp>
        <p:nvSpPr>
          <p:cNvPr id="16" name="Text 14"/>
          <p:cNvSpPr/>
          <p:nvPr/>
        </p:nvSpPr>
        <p:spPr>
          <a:xfrm>
            <a:off x="7596394" y="3111599"/>
            <a:ext cx="3774782"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An AI-powered platform that maps skills, detects gaps, and matches students to AvsarAI industry opportunities—end to end.</a:t>
            </a:r>
            <a:endParaRPr lang="en-US" sz="1300" dirty="0"/>
          </a:p>
        </p:txBody>
      </p:sp>
      <p:sp>
        <p:nvSpPr>
          <p:cNvPr id="17" name="Shape 15"/>
          <p:cNvSpPr/>
          <p:nvPr/>
        </p:nvSpPr>
        <p:spPr>
          <a:xfrm>
            <a:off x="7431100" y="4236045"/>
            <a:ext cx="4105371" cy="1812826"/>
          </a:xfrm>
          <a:prstGeom prst="roundRect">
            <a:avLst>
              <a:gd name="adj" fmla="val 1369"/>
            </a:avLst>
          </a:prstGeom>
          <a:solidFill>
            <a:srgbClr val="F2EEEE"/>
          </a:solidFill>
          <a:ln/>
        </p:spPr>
      </p:sp>
      <p:sp>
        <p:nvSpPr>
          <p:cNvPr id="18" name="Text 16"/>
          <p:cNvSpPr/>
          <p:nvPr/>
        </p:nvSpPr>
        <p:spPr>
          <a:xfrm>
            <a:off x="7596394" y="4401344"/>
            <a:ext cx="3774782" cy="258465"/>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The Impact</a:t>
            </a:r>
            <a:endParaRPr lang="en-US" sz="1600" dirty="0"/>
          </a:p>
        </p:txBody>
      </p:sp>
      <p:sp>
        <p:nvSpPr>
          <p:cNvPr id="19" name="Text 17"/>
          <p:cNvSpPr/>
          <p:nvPr/>
        </p:nvSpPr>
        <p:spPr>
          <a:xfrm>
            <a:off x="7596394" y="4825107"/>
            <a:ext cx="3774782"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Stronger academia–industry collaboration, data-driven curriculum alignment, and an accelerated internship-to-placement pipeline for the AvsarAI ecosystem.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990402"/>
            <a:ext cx="1071833" cy="251420"/>
          </a:xfrm>
          <a:prstGeom prst="roundRect">
            <a:avLst>
              <a:gd name="adj" fmla="val 7894"/>
            </a:avLst>
          </a:prstGeom>
          <a:solidFill>
            <a:srgbClr val="D4F7EC"/>
          </a:solidFill>
          <a:ln/>
        </p:spPr>
      </p:sp>
      <p:sp>
        <p:nvSpPr>
          <p:cNvPr id="3" name="Text 1"/>
          <p:cNvSpPr/>
          <p:nvPr/>
        </p:nvSpPr>
        <p:spPr>
          <a:xfrm>
            <a:off x="760691" y="1040011"/>
            <a:ext cx="1482986" cy="152202"/>
          </a:xfrm>
          <a:prstGeom prst="rect">
            <a:avLst/>
          </a:prstGeom>
          <a:noFill/>
          <a:ln/>
        </p:spPr>
        <p:txBody>
          <a:bodyPr wrap="none" lIns="0" tIns="0" rIns="0" bIns="0" rtlCol="0" anchor="t"/>
          <a:lstStyle/>
          <a:p>
            <a:pPr algn="l" indent="0" marL="0">
              <a:lnSpc>
                <a:spcPct val="96000"/>
              </a:lnSpc>
              <a:buNone/>
            </a:pPr>
            <a:r>
              <a:rPr lang="en-US" sz="1000" dirty="0">
                <a:solidFill>
                  <a:srgbClr val="464646"/>
                </a:solidFill>
                <a:latin typeface="Inter Medium" pitchFamily="34" charset="0"/>
                <a:ea typeface="Inter Medium" pitchFamily="34" charset="-122"/>
                <a:cs typeface="Inter Medium" pitchFamily="34" charset="-120"/>
              </a:rPr>
              <a:t>TECH TITANS</a:t>
            </a:r>
            <a:endParaRPr lang="en-US" sz="1000" dirty="0"/>
          </a:p>
        </p:txBody>
      </p:sp>
      <p:sp>
        <p:nvSpPr>
          <p:cNvPr id="4" name="Shape 2"/>
          <p:cNvSpPr/>
          <p:nvPr/>
        </p:nvSpPr>
        <p:spPr>
          <a:xfrm>
            <a:off x="1815955" y="990402"/>
            <a:ext cx="1612760" cy="251420"/>
          </a:xfrm>
          <a:prstGeom prst="roundRect">
            <a:avLst>
              <a:gd name="adj" fmla="val 7894"/>
            </a:avLst>
          </a:prstGeom>
          <a:noFill/>
          <a:ln w="6350">
            <a:solidFill>
              <a:srgbClr val="1C9770"/>
            </a:solidFill>
            <a:prstDash val="solid"/>
          </a:ln>
        </p:spPr>
      </p:sp>
      <p:sp>
        <p:nvSpPr>
          <p:cNvPr id="5" name="Text 3"/>
          <p:cNvSpPr/>
          <p:nvPr/>
        </p:nvSpPr>
        <p:spPr>
          <a:xfrm>
            <a:off x="1915172" y="1040011"/>
            <a:ext cx="2023913" cy="152202"/>
          </a:xfrm>
          <a:prstGeom prst="rect">
            <a:avLst/>
          </a:prstGeom>
          <a:noFill/>
          <a:ln/>
        </p:spPr>
        <p:txBody>
          <a:bodyPr wrap="none" lIns="0" tIns="0" rIns="0" bIns="0" rtlCol="0" anchor="t"/>
          <a:lstStyle/>
          <a:p>
            <a:pPr algn="l" indent="0" marL="0">
              <a:lnSpc>
                <a:spcPct val="96000"/>
              </a:lnSpc>
              <a:buNone/>
            </a:pPr>
            <a:r>
              <a:rPr lang="en-US" sz="1000" dirty="0">
                <a:solidFill>
                  <a:srgbClr val="1C9770"/>
                </a:solidFill>
                <a:latin typeface="Inter Medium" pitchFamily="34" charset="0"/>
                <a:ea typeface="Inter Medium" pitchFamily="34" charset="-122"/>
                <a:cs typeface="Inter Medium" pitchFamily="34" charset="-120"/>
              </a:rPr>
              <a:t>SOLUTION OVERVIEW</a:t>
            </a:r>
            <a:endParaRPr lang="en-US" sz="1000" dirty="0"/>
          </a:p>
        </p:txBody>
      </p:sp>
      <p:sp>
        <p:nvSpPr>
          <p:cNvPr id="6" name="Text 4"/>
          <p:cNvSpPr/>
          <p:nvPr/>
        </p:nvSpPr>
        <p:spPr>
          <a:xfrm>
            <a:off x="661475" y="1307902"/>
            <a:ext cx="10868745" cy="516731"/>
          </a:xfrm>
          <a:prstGeom prst="rect">
            <a:avLst/>
          </a:prstGeom>
          <a:noFill/>
          <a:ln/>
        </p:spPr>
        <p:txBody>
          <a:bodyPr wrap="none" lIns="0" tIns="0" rIns="0" bIns="0" rtlCol="0" anchor="t"/>
          <a:lstStyle/>
          <a:p>
            <a:pPr algn="ctr" indent="0" marL="0">
              <a:lnSpc>
                <a:spcPct val="104000"/>
              </a:lnSpc>
              <a:buNone/>
            </a:pPr>
            <a:r>
              <a:rPr lang="en-US" sz="3250" dirty="0">
                <a:solidFill>
                  <a:srgbClr val="030303"/>
                </a:solidFill>
                <a:latin typeface="DM Sans SemiBold" pitchFamily="34" charset="0"/>
                <a:ea typeface="DM Sans SemiBold" pitchFamily="34" charset="-122"/>
                <a:cs typeface="DM Sans SemiBold" pitchFamily="34" charset="-120"/>
              </a:rPr>
              <a:t>From Classroom Skills to AvsarAI Careers</a:t>
            </a:r>
            <a:endParaRPr lang="en-US" sz="3250" dirty="0"/>
          </a:p>
        </p:txBody>
      </p:sp>
      <p:sp>
        <p:nvSpPr>
          <p:cNvPr id="7" name="Text 5"/>
          <p:cNvSpPr/>
          <p:nvPr/>
        </p:nvSpPr>
        <p:spPr>
          <a:xfrm>
            <a:off x="661475" y="1890712"/>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030303"/>
                </a:solidFill>
                <a:latin typeface="DM Sans SemiBold" pitchFamily="34" charset="0"/>
                <a:ea typeface="DM Sans SemiBold" pitchFamily="34" charset="-122"/>
                <a:cs typeface="DM Sans SemiBold" pitchFamily="34" charset="-120"/>
              </a:rPr>
              <a:t>4 Core Innovations</a:t>
            </a:r>
            <a:endParaRPr lang="en-US" sz="16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397224"/>
            <a:ext cx="5351725" cy="1784846"/>
          </a:xfrm>
          <a:prstGeom prst="rect">
            <a:avLst/>
          </a:prstGeom>
        </p:spPr>
      </p:pic>
      <p:sp>
        <p:nvSpPr>
          <p:cNvPr id="9" name="Text 6"/>
          <p:cNvSpPr/>
          <p:nvPr/>
        </p:nvSpPr>
        <p:spPr>
          <a:xfrm>
            <a:off x="922017" y="2581573"/>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167AC6"/>
                </a:solidFill>
                <a:latin typeface="DM Sans SemiBold" pitchFamily="34" charset="0"/>
                <a:ea typeface="DM Sans SemiBold" pitchFamily="34" charset="-122"/>
                <a:cs typeface="DM Sans SemiBold" pitchFamily="34" charset="-120"/>
              </a:rPr>
              <a:t>AI Matches</a:t>
            </a:r>
            <a:endParaRPr lang="en-US" sz="1600" dirty="0"/>
          </a:p>
        </p:txBody>
      </p:sp>
      <p:sp>
        <p:nvSpPr>
          <p:cNvPr id="10" name="Text 7"/>
          <p:cNvSpPr/>
          <p:nvPr/>
        </p:nvSpPr>
        <p:spPr>
          <a:xfrm>
            <a:off x="922017" y="2939256"/>
            <a:ext cx="490684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Verified, portable skill credentials tailored specifically for AvsarAI professionals—spanning Ayurveda, Yoga, Unani, Siddha, and Homeopathy. Blockchain-ready for tamper-proof verification.</a:t>
            </a:r>
            <a:endParaRPr lang="en-US" sz="130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8495" y="2397224"/>
            <a:ext cx="5351725" cy="1784846"/>
          </a:xfrm>
          <a:prstGeom prst="rect">
            <a:avLst/>
          </a:prstGeom>
        </p:spPr>
      </p:pic>
      <p:sp>
        <p:nvSpPr>
          <p:cNvPr id="12" name="Text 8"/>
          <p:cNvSpPr/>
          <p:nvPr/>
        </p:nvSpPr>
        <p:spPr>
          <a:xfrm>
            <a:off x="6439037" y="2581573"/>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00A896"/>
                </a:solidFill>
                <a:latin typeface="DM Sans SemiBold" pitchFamily="34" charset="0"/>
                <a:ea typeface="DM Sans SemiBold" pitchFamily="34" charset="-122"/>
                <a:cs typeface="DM Sans SemiBold" pitchFamily="34" charset="-120"/>
              </a:rPr>
              <a:t>AI Internship Recommendation Engine</a:t>
            </a:r>
            <a:endParaRPr lang="en-US" sz="1600" dirty="0"/>
          </a:p>
        </p:txBody>
      </p:sp>
      <p:sp>
        <p:nvSpPr>
          <p:cNvPr id="13" name="Text 9"/>
          <p:cNvSpPr/>
          <p:nvPr/>
        </p:nvSpPr>
        <p:spPr>
          <a:xfrm>
            <a:off x="6439037" y="2939256"/>
            <a:ext cx="490684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Curriculum-aligned opportunity matching that goes beyond keyword search—recommending roles based on verified skills, detected gaps, and academic context.</a:t>
            </a:r>
            <a:endParaRPr lang="en-US" sz="130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347369"/>
            <a:ext cx="5351725" cy="1520230"/>
          </a:xfrm>
          <a:prstGeom prst="rect">
            <a:avLst/>
          </a:prstGeom>
        </p:spPr>
      </p:pic>
      <p:sp>
        <p:nvSpPr>
          <p:cNvPr id="15" name="Text 10"/>
          <p:cNvSpPr/>
          <p:nvPr/>
        </p:nvSpPr>
        <p:spPr>
          <a:xfrm>
            <a:off x="922017" y="4531717"/>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F2A900"/>
                </a:solidFill>
                <a:latin typeface="DM Sans SemiBold" pitchFamily="34" charset="0"/>
                <a:ea typeface="DM Sans SemiBold" pitchFamily="34" charset="-122"/>
                <a:cs typeface="DM Sans SemiBold" pitchFamily="34" charset="-120"/>
              </a:rPr>
              <a:t>Academia–Industry Skill Gap Mapping</a:t>
            </a:r>
            <a:endParaRPr lang="en-US" sz="1600" dirty="0"/>
          </a:p>
        </p:txBody>
      </p:sp>
      <p:sp>
        <p:nvSpPr>
          <p:cNvPr id="16" name="Text 11"/>
          <p:cNvSpPr/>
          <p:nvPr/>
        </p:nvSpPr>
        <p:spPr>
          <a:xfrm>
            <a:off x="922017" y="4889401"/>
            <a:ext cx="490684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Real-time demand-supply alignment dashboard enabling institutions to evolve curricula based on live industry signals and sector-wide competency data.</a:t>
            </a:r>
            <a:endParaRPr lang="en-US" sz="130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8495" y="4347369"/>
            <a:ext cx="5351725" cy="1520230"/>
          </a:xfrm>
          <a:prstGeom prst="rect">
            <a:avLst/>
          </a:prstGeom>
        </p:spPr>
      </p:pic>
      <p:sp>
        <p:nvSpPr>
          <p:cNvPr id="18" name="Text 12"/>
          <p:cNvSpPr/>
          <p:nvPr/>
        </p:nvSpPr>
        <p:spPr>
          <a:xfrm>
            <a:off x="6439037" y="4531717"/>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8B5CF6"/>
                </a:solidFill>
                <a:latin typeface="DM Sans SemiBold" pitchFamily="34" charset="0"/>
                <a:ea typeface="DM Sans SemiBold" pitchFamily="34" charset="-122"/>
                <a:cs typeface="DM Sans SemiBold" pitchFamily="34" charset="-120"/>
              </a:rPr>
              <a:t>Company Recruiter Portal</a:t>
            </a:r>
            <a:endParaRPr lang="en-US" sz="1600" dirty="0"/>
          </a:p>
        </p:txBody>
      </p:sp>
      <p:sp>
        <p:nvSpPr>
          <p:cNvPr id="19" name="Text 13"/>
          <p:cNvSpPr/>
          <p:nvPr/>
        </p:nvSpPr>
        <p:spPr>
          <a:xfrm>
            <a:off x="6439037" y="4889401"/>
            <a:ext cx="490684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Recruiters can post opportunities in one place and quickly discover qualified AvsarAI talent. The portal streamlines hiring with a simple view of matched candidates and open roles.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465931"/>
            <a:ext cx="1054867" cy="247352"/>
          </a:xfrm>
          <a:prstGeom prst="roundRect">
            <a:avLst>
              <a:gd name="adj" fmla="val 7898"/>
            </a:avLst>
          </a:prstGeom>
          <a:solidFill>
            <a:srgbClr val="D4F7EC"/>
          </a:solidFill>
          <a:ln/>
        </p:spPr>
      </p:sp>
      <p:sp>
        <p:nvSpPr>
          <p:cNvPr id="3" name="Text 1"/>
          <p:cNvSpPr/>
          <p:nvPr/>
        </p:nvSpPr>
        <p:spPr>
          <a:xfrm>
            <a:off x="759104" y="514747"/>
            <a:ext cx="1469194" cy="149721"/>
          </a:xfrm>
          <a:prstGeom prst="rect">
            <a:avLst/>
          </a:prstGeom>
          <a:noFill/>
          <a:ln/>
        </p:spPr>
        <p:txBody>
          <a:bodyPr wrap="none" lIns="0" tIns="0" rIns="0" bIns="0" rtlCol="0" anchor="t"/>
          <a:lstStyle/>
          <a:p>
            <a:pPr algn="l" indent="0" marL="0">
              <a:lnSpc>
                <a:spcPct val="96000"/>
              </a:lnSpc>
              <a:buNone/>
            </a:pPr>
            <a:r>
              <a:rPr lang="en-US" sz="1000" dirty="0">
                <a:solidFill>
                  <a:srgbClr val="464646"/>
                </a:solidFill>
                <a:latin typeface="Inter Medium" pitchFamily="34" charset="0"/>
                <a:ea typeface="Inter Medium" pitchFamily="34" charset="-122"/>
                <a:cs typeface="Inter Medium" pitchFamily="34" charset="-120"/>
              </a:rPr>
              <a:t>TECH TITANS</a:t>
            </a:r>
            <a:endParaRPr lang="en-US" sz="1000" dirty="0"/>
          </a:p>
        </p:txBody>
      </p:sp>
      <p:sp>
        <p:nvSpPr>
          <p:cNvPr id="4" name="Shape 2"/>
          <p:cNvSpPr/>
          <p:nvPr/>
        </p:nvSpPr>
        <p:spPr>
          <a:xfrm>
            <a:off x="1797700" y="465931"/>
            <a:ext cx="1985913" cy="247352"/>
          </a:xfrm>
          <a:prstGeom prst="roundRect">
            <a:avLst>
              <a:gd name="adj" fmla="val 7898"/>
            </a:avLst>
          </a:prstGeom>
          <a:noFill/>
          <a:ln w="6350">
            <a:solidFill>
              <a:srgbClr val="1C9770"/>
            </a:solidFill>
            <a:prstDash val="solid"/>
          </a:ln>
        </p:spPr>
      </p:sp>
      <p:sp>
        <p:nvSpPr>
          <p:cNvPr id="5" name="Text 3"/>
          <p:cNvSpPr/>
          <p:nvPr/>
        </p:nvSpPr>
        <p:spPr>
          <a:xfrm>
            <a:off x="1895328" y="514747"/>
            <a:ext cx="2400240" cy="149721"/>
          </a:xfrm>
          <a:prstGeom prst="rect">
            <a:avLst/>
          </a:prstGeom>
          <a:noFill/>
          <a:ln/>
        </p:spPr>
        <p:txBody>
          <a:bodyPr wrap="none" lIns="0" tIns="0" rIns="0" bIns="0" rtlCol="0" anchor="t"/>
          <a:lstStyle/>
          <a:p>
            <a:pPr algn="l" indent="0" marL="0">
              <a:lnSpc>
                <a:spcPct val="96000"/>
              </a:lnSpc>
              <a:buNone/>
            </a:pPr>
            <a:r>
              <a:rPr lang="en-US" sz="1000" dirty="0">
                <a:solidFill>
                  <a:srgbClr val="1C9770"/>
                </a:solidFill>
                <a:latin typeface="Inter Medium" pitchFamily="34" charset="0"/>
                <a:ea typeface="Inter Medium" pitchFamily="34" charset="-122"/>
                <a:cs typeface="Inter Medium" pitchFamily="34" charset="-120"/>
              </a:rPr>
              <a:t>TECHNICAL ARCHITECTURE</a:t>
            </a:r>
            <a:endParaRPr lang="en-US" sz="1000" dirty="0"/>
          </a:p>
        </p:txBody>
      </p:sp>
      <p:sp>
        <p:nvSpPr>
          <p:cNvPr id="6" name="Text 4"/>
          <p:cNvSpPr/>
          <p:nvPr/>
        </p:nvSpPr>
        <p:spPr>
          <a:xfrm>
            <a:off x="661475" y="777379"/>
            <a:ext cx="10868745" cy="508695"/>
          </a:xfrm>
          <a:prstGeom prst="rect">
            <a:avLst/>
          </a:prstGeom>
          <a:noFill/>
          <a:ln/>
        </p:spPr>
        <p:txBody>
          <a:bodyPr wrap="none" lIns="0" tIns="0" rIns="0" bIns="0" rtlCol="0" anchor="t"/>
          <a:lstStyle/>
          <a:p>
            <a:pPr algn="ctr" indent="0" marL="0">
              <a:lnSpc>
                <a:spcPct val="104000"/>
              </a:lnSpc>
              <a:buNone/>
            </a:pPr>
            <a:r>
              <a:rPr lang="en-US" sz="3200" dirty="0">
                <a:solidFill>
                  <a:srgbClr val="030303"/>
                </a:solidFill>
                <a:latin typeface="DM Sans SemiBold" pitchFamily="34" charset="0"/>
                <a:ea typeface="DM Sans SemiBold" pitchFamily="34" charset="-122"/>
                <a:cs typeface="DM Sans SemiBold" pitchFamily="34" charset="-120"/>
              </a:rPr>
              <a:t>How the Intelligent Platform Works</a:t>
            </a:r>
            <a:endParaRPr lang="en-US" sz="3200" dirty="0"/>
          </a:p>
        </p:txBody>
      </p:sp>
      <p:sp>
        <p:nvSpPr>
          <p:cNvPr id="7" name="Text 5"/>
          <p:cNvSpPr/>
          <p:nvPr/>
        </p:nvSpPr>
        <p:spPr>
          <a:xfrm>
            <a:off x="661475" y="1686620"/>
            <a:ext cx="5799092" cy="254298"/>
          </a:xfrm>
          <a:prstGeom prst="rect">
            <a:avLst/>
          </a:prstGeom>
          <a:noFill/>
          <a:ln/>
        </p:spPr>
        <p:txBody>
          <a:bodyPr wrap="none" lIns="0" tIns="0" rIns="0" bIns="0" rtlCol="0" anchor="t"/>
          <a:lstStyle/>
          <a:p>
            <a:pPr algn="l" indent="0" marL="0">
              <a:lnSpc>
                <a:spcPct val="104000"/>
              </a:lnSpc>
              <a:buNone/>
            </a:pPr>
            <a:r>
              <a:rPr lang="en-US" sz="1600" dirty="0">
                <a:solidFill>
                  <a:srgbClr val="030303"/>
                </a:solidFill>
                <a:latin typeface="DM Sans SemiBold" pitchFamily="34" charset="0"/>
                <a:ea typeface="DM Sans SemiBold" pitchFamily="34" charset="-122"/>
                <a:cs typeface="DM Sans SemiBold" pitchFamily="34" charset="-120"/>
              </a:rPr>
              <a:t>Platform Architecture — End-to-End Data Flow</a:t>
            </a:r>
            <a:endParaRPr lang="en-US" sz="1600" dirty="0"/>
          </a:p>
        </p:txBody>
      </p:sp>
      <p:pic>
        <p:nvPicPr>
          <p:cNvPr id="8" name="Image 0" descr="preencoded.png">    </p:cNvPr>
          <p:cNvPicPr>
            <a:picLocks noChangeAspect="1"/>
          </p:cNvPicPr>
          <p:nvPr/>
        </p:nvPicPr>
        <p:blipFill>
          <a:blip r:embed="rId1"/>
          <a:stretch>
            <a:fillRect/>
          </a:stretch>
        </p:blipFill>
        <p:spPr>
          <a:xfrm>
            <a:off x="661475" y="2121198"/>
            <a:ext cx="5799092" cy="2654002"/>
          </a:xfrm>
          <a:prstGeom prst="rect">
            <a:avLst/>
          </a:prstGeom>
        </p:spPr>
      </p:pic>
      <p:sp>
        <p:nvSpPr>
          <p:cNvPr id="9" name="Text 6"/>
          <p:cNvSpPr/>
          <p:nvPr/>
        </p:nvSpPr>
        <p:spPr>
          <a:xfrm>
            <a:off x="4909338" y="2458646"/>
            <a:ext cx="1282823" cy="160357"/>
          </a:xfrm>
          <a:prstGeom prst="rect">
            <a:avLst/>
          </a:prstGeom>
          <a:noFill/>
          <a:ln/>
        </p:spPr>
        <p:txBody>
          <a:bodyPr wrap="none" lIns="0" tIns="0" rIns="0" bIns="0" rtlCol="0" anchor="t"/>
          <a:lstStyle/>
          <a:p>
            <a:pPr algn="l" indent="0" marL="0">
              <a:lnSpc>
                <a:spcPct val="104000"/>
              </a:lnSpc>
              <a:buNone/>
            </a:pPr>
            <a:r>
              <a:rPr lang="en-US" sz="1000" dirty="0">
                <a:solidFill>
                  <a:srgbClr val="464646"/>
                </a:solidFill>
                <a:latin typeface="DM Sans SemiBold" pitchFamily="34" charset="0"/>
                <a:ea typeface="DM Sans SemiBold" pitchFamily="34" charset="-122"/>
                <a:cs typeface="DM Sans SemiBold" pitchFamily="34" charset="-120"/>
              </a:rPr>
              <a:t>Interface &amp; Outputs</a:t>
            </a:r>
            <a:endParaRPr lang="en-US" sz="1000" dirty="0"/>
          </a:p>
        </p:txBody>
      </p:sp>
      <p:sp>
        <p:nvSpPr>
          <p:cNvPr id="10" name="Text 7"/>
          <p:cNvSpPr/>
          <p:nvPr/>
        </p:nvSpPr>
        <p:spPr>
          <a:xfrm>
            <a:off x="4909338" y="2664615"/>
            <a:ext cx="1413956" cy="254433"/>
          </a:xfrm>
          <a:prstGeom prst="rect">
            <a:avLst/>
          </a:prstGeom>
          <a:noFill/>
          <a:ln/>
        </p:spPr>
        <p:txBody>
          <a:bodyPr wrap="square" lIns="0" tIns="0" rIns="0" bIns="0" rtlCol="0" anchor="t">
            <a:normAutofit/>
          </a:bodyPr>
          <a:lstStyle/>
          <a:p>
            <a:pPr algn="l" indent="0" marL="0">
              <a:lnSpc>
                <a:spcPct val="103000"/>
              </a:lnSpc>
              <a:buNone/>
            </a:pPr>
            <a:r>
              <a:rPr lang="en-US" sz="800" dirty="0">
                <a:solidFill>
                  <a:srgbClr val="464646"/>
                </a:solidFill>
                <a:latin typeface="Inter Medium" pitchFamily="34" charset="0"/>
                <a:ea typeface="Inter Medium" pitchFamily="34" charset="-122"/>
                <a:cs typeface="Inter Medium" pitchFamily="34" charset="-120"/>
              </a:rPr>
              <a:t>dashboards, recommendations, tracking</a:t>
            </a:r>
            <a:endParaRPr lang="en-US" sz="800" dirty="0"/>
          </a:p>
        </p:txBody>
      </p:sp>
      <p:sp>
        <p:nvSpPr>
          <p:cNvPr id="11" name="Text 8"/>
          <p:cNvSpPr/>
          <p:nvPr/>
        </p:nvSpPr>
        <p:spPr>
          <a:xfrm>
            <a:off x="815707" y="3267379"/>
            <a:ext cx="1282823" cy="160357"/>
          </a:xfrm>
          <a:prstGeom prst="rect">
            <a:avLst/>
          </a:prstGeom>
          <a:noFill/>
          <a:ln/>
        </p:spPr>
        <p:txBody>
          <a:bodyPr wrap="none" lIns="0" tIns="0" rIns="0" bIns="0" rtlCol="0" anchor="t"/>
          <a:lstStyle/>
          <a:p>
            <a:pPr algn="r" indent="0" marL="0">
              <a:lnSpc>
                <a:spcPct val="104000"/>
              </a:lnSpc>
              <a:buNone/>
            </a:pPr>
            <a:r>
              <a:rPr lang="en-US" sz="1000" dirty="0">
                <a:solidFill>
                  <a:srgbClr val="464646"/>
                </a:solidFill>
                <a:latin typeface="DM Sans SemiBold" pitchFamily="34" charset="0"/>
                <a:ea typeface="DM Sans SemiBold" pitchFamily="34" charset="-122"/>
                <a:cs typeface="DM Sans SemiBold" pitchFamily="34" charset="-120"/>
              </a:rPr>
              <a:t>Data Layer</a:t>
            </a:r>
            <a:endParaRPr lang="en-US" sz="1000" dirty="0"/>
          </a:p>
        </p:txBody>
      </p:sp>
      <p:sp>
        <p:nvSpPr>
          <p:cNvPr id="12" name="Text 9"/>
          <p:cNvSpPr/>
          <p:nvPr/>
        </p:nvSpPr>
        <p:spPr>
          <a:xfrm>
            <a:off x="798602" y="3473348"/>
            <a:ext cx="1299927" cy="381650"/>
          </a:xfrm>
          <a:prstGeom prst="rect">
            <a:avLst/>
          </a:prstGeom>
          <a:noFill/>
          <a:ln/>
        </p:spPr>
        <p:txBody>
          <a:bodyPr wrap="square" lIns="0" tIns="0" rIns="0" bIns="0" rtlCol="0" anchor="t">
            <a:normAutofit/>
          </a:bodyPr>
          <a:lstStyle/>
          <a:p>
            <a:pPr algn="r" indent="0" marL="0">
              <a:lnSpc>
                <a:spcPct val="103000"/>
              </a:lnSpc>
              <a:buNone/>
            </a:pPr>
            <a:r>
              <a:rPr lang="en-US" sz="800" dirty="0">
                <a:solidFill>
                  <a:srgbClr val="464646"/>
                </a:solidFill>
                <a:latin typeface="Inter Medium" pitchFamily="34" charset="0"/>
                <a:ea typeface="Inter Medium" pitchFamily="34" charset="-122"/>
                <a:cs typeface="Inter Medium" pitchFamily="34" charset="-120"/>
              </a:rPr>
              <a:t>Profiles, resumes, skills, curriculum, industry requirements</a:t>
            </a:r>
            <a:endParaRPr lang="en-US" sz="800" dirty="0"/>
          </a:p>
        </p:txBody>
      </p:sp>
      <p:sp>
        <p:nvSpPr>
          <p:cNvPr id="13" name="Text 10"/>
          <p:cNvSpPr/>
          <p:nvPr/>
        </p:nvSpPr>
        <p:spPr>
          <a:xfrm>
            <a:off x="4909338" y="3781412"/>
            <a:ext cx="1282823" cy="160357"/>
          </a:xfrm>
          <a:prstGeom prst="rect">
            <a:avLst/>
          </a:prstGeom>
          <a:noFill/>
          <a:ln/>
        </p:spPr>
        <p:txBody>
          <a:bodyPr wrap="none" lIns="0" tIns="0" rIns="0" bIns="0" rtlCol="0" anchor="t"/>
          <a:lstStyle/>
          <a:p>
            <a:pPr algn="l" indent="0" marL="0">
              <a:lnSpc>
                <a:spcPct val="104000"/>
              </a:lnSpc>
              <a:buNone/>
            </a:pPr>
            <a:r>
              <a:rPr lang="en-US" sz="1000" dirty="0">
                <a:solidFill>
                  <a:srgbClr val="464646"/>
                </a:solidFill>
                <a:latin typeface="DM Sans SemiBold" pitchFamily="34" charset="0"/>
                <a:ea typeface="DM Sans SemiBold" pitchFamily="34" charset="-122"/>
                <a:cs typeface="DM Sans SemiBold" pitchFamily="34" charset="-120"/>
              </a:rPr>
              <a:t>Core AI Engine</a:t>
            </a:r>
            <a:endParaRPr lang="en-US" sz="1000" dirty="0"/>
          </a:p>
        </p:txBody>
      </p:sp>
      <p:sp>
        <p:nvSpPr>
          <p:cNvPr id="14" name="Text 11"/>
          <p:cNvSpPr/>
          <p:nvPr/>
        </p:nvSpPr>
        <p:spPr>
          <a:xfrm>
            <a:off x="4909338" y="3987381"/>
            <a:ext cx="1413956" cy="254433"/>
          </a:xfrm>
          <a:prstGeom prst="rect">
            <a:avLst/>
          </a:prstGeom>
          <a:noFill/>
          <a:ln/>
        </p:spPr>
        <p:txBody>
          <a:bodyPr wrap="square" lIns="0" tIns="0" rIns="0" bIns="0" rtlCol="0" anchor="t">
            <a:normAutofit/>
          </a:bodyPr>
          <a:lstStyle/>
          <a:p>
            <a:pPr algn="l" indent="0" marL="0">
              <a:lnSpc>
                <a:spcPct val="103000"/>
              </a:lnSpc>
              <a:buNone/>
            </a:pPr>
            <a:r>
              <a:rPr lang="en-US" sz="800" dirty="0">
                <a:solidFill>
                  <a:srgbClr val="464646"/>
                </a:solidFill>
                <a:latin typeface="Inter Medium" pitchFamily="34" charset="0"/>
                <a:ea typeface="Inter Medium" pitchFamily="34" charset="-122"/>
                <a:cs typeface="Inter Medium" pitchFamily="34" charset="-120"/>
              </a:rPr>
              <a:t>Skill mapping, gap analysis, opportunity matching</a:t>
            </a:r>
            <a:endParaRPr lang="en-US" sz="800" dirty="0"/>
          </a:p>
        </p:txBody>
      </p:sp>
      <p:sp>
        <p:nvSpPr>
          <p:cNvPr id="15" name="Text 12"/>
          <p:cNvSpPr/>
          <p:nvPr/>
        </p:nvSpPr>
        <p:spPr>
          <a:xfrm>
            <a:off x="661475" y="4955480"/>
            <a:ext cx="5799092" cy="1292324"/>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464646"/>
                </a:solidFill>
                <a:latin typeface="Inter Medium" pitchFamily="34" charset="0"/>
                <a:ea typeface="Inter Medium" pitchFamily="34" charset="-122"/>
                <a:cs typeface="Inter Medium" pitchFamily="34" charset="-120"/>
              </a:rPr>
              <a:t>The platform follows a clean separation of concerns—raw profile and curriculum data feeds the AI Intelligence Engine, which produces actionable outputs including internship recommendations, mentor pairings, and personalized learning paths. All outputs are tracked through a unified analytics dashboard.</a:t>
            </a:r>
            <a:endParaRPr lang="en-US" sz="1250" dirty="0"/>
          </a:p>
        </p:txBody>
      </p:sp>
      <p:sp>
        <p:nvSpPr>
          <p:cNvPr id="16" name="Text 13"/>
          <p:cNvSpPr/>
          <p:nvPr/>
        </p:nvSpPr>
        <p:spPr>
          <a:xfrm>
            <a:off x="6863980" y="1686620"/>
            <a:ext cx="4672491" cy="254298"/>
          </a:xfrm>
          <a:prstGeom prst="rect">
            <a:avLst/>
          </a:prstGeom>
          <a:noFill/>
          <a:ln/>
        </p:spPr>
        <p:txBody>
          <a:bodyPr wrap="none" lIns="0" tIns="0" rIns="0" bIns="0" rtlCol="0" anchor="t"/>
          <a:lstStyle/>
          <a:p>
            <a:pPr algn="l" indent="0" marL="0">
              <a:lnSpc>
                <a:spcPct val="104000"/>
              </a:lnSpc>
              <a:buNone/>
            </a:pPr>
            <a:r>
              <a:rPr lang="en-US" sz="1600" dirty="0">
                <a:solidFill>
                  <a:srgbClr val="030303"/>
                </a:solidFill>
                <a:latin typeface="DM Sans SemiBold" pitchFamily="34" charset="0"/>
                <a:ea typeface="DM Sans SemiBold" pitchFamily="34" charset="-122"/>
                <a:cs typeface="DM Sans SemiBold" pitchFamily="34" charset="-120"/>
              </a:rPr>
              <a:t>Technology Stack</a:t>
            </a:r>
            <a:endParaRPr lang="en-US" sz="1600" dirty="0"/>
          </a:p>
        </p:txBody>
      </p:sp>
      <p:sp>
        <p:nvSpPr>
          <p:cNvPr id="17" name="Shape 14"/>
          <p:cNvSpPr/>
          <p:nvPr/>
        </p:nvSpPr>
        <p:spPr>
          <a:xfrm>
            <a:off x="6863980" y="2121198"/>
            <a:ext cx="2256079" cy="1228328"/>
          </a:xfrm>
          <a:prstGeom prst="roundRect">
            <a:avLst>
              <a:gd name="adj" fmla="val 1988"/>
            </a:avLst>
          </a:prstGeom>
          <a:solidFill>
            <a:srgbClr val="F2EEEE"/>
          </a:solidFill>
          <a:ln/>
        </p:spPr>
      </p:sp>
      <p:sp>
        <p:nvSpPr>
          <p:cNvPr id="18" name="Shape 15"/>
          <p:cNvSpPr/>
          <p:nvPr/>
        </p:nvSpPr>
        <p:spPr>
          <a:xfrm>
            <a:off x="7026695" y="2283916"/>
            <a:ext cx="488342" cy="488355"/>
          </a:xfrm>
          <a:prstGeom prst="ellipse">
            <a:avLst/>
          </a:prstGeom>
          <a:solidFill>
            <a:srgbClr val="1C9770"/>
          </a:solidFill>
          <a:ln/>
        </p:spPr>
      </p:sp>
      <p:pic>
        <p:nvPicPr>
          <p:cNvPr id="1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60934" y="2418159"/>
            <a:ext cx="219764" cy="219770"/>
          </a:xfrm>
          <a:prstGeom prst="rect">
            <a:avLst/>
          </a:prstGeom>
        </p:spPr>
      </p:pic>
      <p:sp>
        <p:nvSpPr>
          <p:cNvPr id="20" name="Text 16"/>
          <p:cNvSpPr/>
          <p:nvPr/>
        </p:nvSpPr>
        <p:spPr>
          <a:xfrm>
            <a:off x="7026695" y="2932509"/>
            <a:ext cx="1930649" cy="254298"/>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Frontend</a:t>
            </a:r>
            <a:endParaRPr lang="en-US" sz="1600" dirty="0"/>
          </a:p>
        </p:txBody>
      </p:sp>
      <p:sp>
        <p:nvSpPr>
          <p:cNvPr id="21" name="Shape 17"/>
          <p:cNvSpPr/>
          <p:nvPr/>
        </p:nvSpPr>
        <p:spPr>
          <a:xfrm>
            <a:off x="9280293" y="2121198"/>
            <a:ext cx="2256178" cy="1228328"/>
          </a:xfrm>
          <a:prstGeom prst="roundRect">
            <a:avLst>
              <a:gd name="adj" fmla="val 1988"/>
            </a:avLst>
          </a:prstGeom>
          <a:solidFill>
            <a:srgbClr val="F2EEEE"/>
          </a:solidFill>
          <a:ln/>
        </p:spPr>
      </p:sp>
      <p:sp>
        <p:nvSpPr>
          <p:cNvPr id="22" name="Shape 18"/>
          <p:cNvSpPr/>
          <p:nvPr/>
        </p:nvSpPr>
        <p:spPr>
          <a:xfrm>
            <a:off x="9443008" y="2283916"/>
            <a:ext cx="488342" cy="488355"/>
          </a:xfrm>
          <a:prstGeom prst="ellipse">
            <a:avLst/>
          </a:prstGeom>
          <a:solidFill>
            <a:srgbClr val="1C9770"/>
          </a:solidFill>
          <a:ln/>
        </p:spPr>
      </p:sp>
      <p:pic>
        <p:nvPicPr>
          <p:cNvPr id="2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77247" y="2418159"/>
            <a:ext cx="219764" cy="219770"/>
          </a:xfrm>
          <a:prstGeom prst="rect">
            <a:avLst/>
          </a:prstGeom>
        </p:spPr>
      </p:pic>
      <p:sp>
        <p:nvSpPr>
          <p:cNvPr id="24" name="Text 19"/>
          <p:cNvSpPr/>
          <p:nvPr/>
        </p:nvSpPr>
        <p:spPr>
          <a:xfrm>
            <a:off x="9443008" y="2932509"/>
            <a:ext cx="1930749" cy="254298"/>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Backend</a:t>
            </a:r>
            <a:endParaRPr lang="en-US" sz="1600" dirty="0"/>
          </a:p>
        </p:txBody>
      </p:sp>
      <p:sp>
        <p:nvSpPr>
          <p:cNvPr id="25" name="Shape 20"/>
          <p:cNvSpPr/>
          <p:nvPr/>
        </p:nvSpPr>
        <p:spPr>
          <a:xfrm>
            <a:off x="6863980" y="3509764"/>
            <a:ext cx="2256079" cy="1228328"/>
          </a:xfrm>
          <a:prstGeom prst="roundRect">
            <a:avLst>
              <a:gd name="adj" fmla="val 1988"/>
            </a:avLst>
          </a:prstGeom>
          <a:solidFill>
            <a:srgbClr val="F2EEEE"/>
          </a:solidFill>
          <a:ln/>
        </p:spPr>
      </p:sp>
      <p:sp>
        <p:nvSpPr>
          <p:cNvPr id="26" name="Shape 21"/>
          <p:cNvSpPr/>
          <p:nvPr/>
        </p:nvSpPr>
        <p:spPr>
          <a:xfrm>
            <a:off x="7026695" y="3672483"/>
            <a:ext cx="488342" cy="488355"/>
          </a:xfrm>
          <a:prstGeom prst="ellipse">
            <a:avLst/>
          </a:prstGeom>
          <a:solidFill>
            <a:srgbClr val="1C9770"/>
          </a:solidFill>
          <a:ln/>
        </p:spPr>
      </p:sp>
      <p:pic>
        <p:nvPicPr>
          <p:cNvPr id="2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60934" y="3806726"/>
            <a:ext cx="219764" cy="219770"/>
          </a:xfrm>
          <a:prstGeom prst="rect">
            <a:avLst/>
          </a:prstGeom>
        </p:spPr>
      </p:pic>
      <p:sp>
        <p:nvSpPr>
          <p:cNvPr id="28" name="Text 22"/>
          <p:cNvSpPr/>
          <p:nvPr/>
        </p:nvSpPr>
        <p:spPr>
          <a:xfrm>
            <a:off x="7026695" y="4321076"/>
            <a:ext cx="1930649" cy="254298"/>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Database</a:t>
            </a:r>
            <a:endParaRPr lang="en-US" sz="1600" dirty="0"/>
          </a:p>
        </p:txBody>
      </p:sp>
      <p:sp>
        <p:nvSpPr>
          <p:cNvPr id="29" name="Shape 23"/>
          <p:cNvSpPr/>
          <p:nvPr/>
        </p:nvSpPr>
        <p:spPr>
          <a:xfrm>
            <a:off x="9280293" y="3509764"/>
            <a:ext cx="2256178" cy="1228328"/>
          </a:xfrm>
          <a:prstGeom prst="roundRect">
            <a:avLst>
              <a:gd name="adj" fmla="val 1988"/>
            </a:avLst>
          </a:prstGeom>
          <a:solidFill>
            <a:srgbClr val="F2EEEE"/>
          </a:solidFill>
          <a:ln/>
        </p:spPr>
      </p:sp>
      <p:sp>
        <p:nvSpPr>
          <p:cNvPr id="30" name="Shape 24"/>
          <p:cNvSpPr/>
          <p:nvPr/>
        </p:nvSpPr>
        <p:spPr>
          <a:xfrm>
            <a:off x="9443008" y="3672483"/>
            <a:ext cx="488342" cy="488355"/>
          </a:xfrm>
          <a:prstGeom prst="ellipse">
            <a:avLst/>
          </a:prstGeom>
          <a:solidFill>
            <a:srgbClr val="1C9770"/>
          </a:solidFill>
          <a:ln/>
        </p:spPr>
      </p:sp>
      <p:pic>
        <p:nvPicPr>
          <p:cNvPr id="31"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577247" y="3806726"/>
            <a:ext cx="219764" cy="219770"/>
          </a:xfrm>
          <a:prstGeom prst="rect">
            <a:avLst/>
          </a:prstGeom>
        </p:spPr>
      </p:pic>
      <p:sp>
        <p:nvSpPr>
          <p:cNvPr id="32" name="Text 25"/>
          <p:cNvSpPr/>
          <p:nvPr/>
        </p:nvSpPr>
        <p:spPr>
          <a:xfrm>
            <a:off x="9443008" y="4321076"/>
            <a:ext cx="1930749" cy="254298"/>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AI / ML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1435199"/>
            <a:ext cx="1071833" cy="251420"/>
          </a:xfrm>
          <a:prstGeom prst="roundRect">
            <a:avLst>
              <a:gd name="adj" fmla="val 7894"/>
            </a:avLst>
          </a:prstGeom>
          <a:solidFill>
            <a:srgbClr val="D4F7EC"/>
          </a:solidFill>
          <a:ln/>
        </p:spPr>
      </p:sp>
      <p:sp>
        <p:nvSpPr>
          <p:cNvPr id="3" name="Text 1"/>
          <p:cNvSpPr/>
          <p:nvPr/>
        </p:nvSpPr>
        <p:spPr>
          <a:xfrm>
            <a:off x="760691" y="1484809"/>
            <a:ext cx="1482986" cy="152202"/>
          </a:xfrm>
          <a:prstGeom prst="rect">
            <a:avLst/>
          </a:prstGeom>
          <a:noFill/>
          <a:ln/>
        </p:spPr>
        <p:txBody>
          <a:bodyPr wrap="none" lIns="0" tIns="0" rIns="0" bIns="0" rtlCol="0" anchor="t"/>
          <a:lstStyle/>
          <a:p>
            <a:pPr algn="l" indent="0" marL="0">
              <a:lnSpc>
                <a:spcPct val="96000"/>
              </a:lnSpc>
              <a:buNone/>
            </a:pPr>
            <a:r>
              <a:rPr lang="en-US" sz="1000" dirty="0">
                <a:solidFill>
                  <a:srgbClr val="464646"/>
                </a:solidFill>
                <a:latin typeface="Inter Medium" pitchFamily="34" charset="0"/>
                <a:ea typeface="Inter Medium" pitchFamily="34" charset="-122"/>
                <a:cs typeface="Inter Medium" pitchFamily="34" charset="-120"/>
              </a:rPr>
              <a:t>TECH TITANS</a:t>
            </a:r>
            <a:endParaRPr lang="en-US" sz="1000" dirty="0"/>
          </a:p>
        </p:txBody>
      </p:sp>
      <p:sp>
        <p:nvSpPr>
          <p:cNvPr id="4" name="Shape 2"/>
          <p:cNvSpPr/>
          <p:nvPr/>
        </p:nvSpPr>
        <p:spPr>
          <a:xfrm>
            <a:off x="1815955" y="1435199"/>
            <a:ext cx="2303107" cy="251420"/>
          </a:xfrm>
          <a:prstGeom prst="roundRect">
            <a:avLst>
              <a:gd name="adj" fmla="val 7894"/>
            </a:avLst>
          </a:prstGeom>
          <a:noFill/>
          <a:ln w="6350">
            <a:solidFill>
              <a:srgbClr val="1C9770"/>
            </a:solidFill>
            <a:prstDash val="solid"/>
          </a:ln>
        </p:spPr>
      </p:sp>
      <p:sp>
        <p:nvSpPr>
          <p:cNvPr id="5" name="Text 3"/>
          <p:cNvSpPr/>
          <p:nvPr/>
        </p:nvSpPr>
        <p:spPr>
          <a:xfrm>
            <a:off x="1915172" y="1484809"/>
            <a:ext cx="2714259" cy="152202"/>
          </a:xfrm>
          <a:prstGeom prst="rect">
            <a:avLst/>
          </a:prstGeom>
          <a:noFill/>
          <a:ln/>
        </p:spPr>
        <p:txBody>
          <a:bodyPr wrap="none" lIns="0" tIns="0" rIns="0" bIns="0" rtlCol="0" anchor="t"/>
          <a:lstStyle/>
          <a:p>
            <a:pPr algn="l" indent="0" marL="0">
              <a:lnSpc>
                <a:spcPct val="96000"/>
              </a:lnSpc>
              <a:buNone/>
            </a:pPr>
            <a:r>
              <a:rPr lang="en-US" sz="1000" dirty="0">
                <a:solidFill>
                  <a:srgbClr val="1C9770"/>
                </a:solidFill>
                <a:latin typeface="Inter Medium" pitchFamily="34" charset="0"/>
                <a:ea typeface="Inter Medium" pitchFamily="34" charset="-122"/>
                <a:cs typeface="Inter Medium" pitchFamily="34" charset="-120"/>
              </a:rPr>
              <a:t>FEASIBILITY &amp; DIFFERENTIATION</a:t>
            </a:r>
            <a:endParaRPr lang="en-US" sz="1000" dirty="0"/>
          </a:p>
        </p:txBody>
      </p:sp>
      <p:sp>
        <p:nvSpPr>
          <p:cNvPr id="6" name="Text 4"/>
          <p:cNvSpPr/>
          <p:nvPr/>
        </p:nvSpPr>
        <p:spPr>
          <a:xfrm>
            <a:off x="661475" y="1752699"/>
            <a:ext cx="10868745" cy="516731"/>
          </a:xfrm>
          <a:prstGeom prst="rect">
            <a:avLst/>
          </a:prstGeom>
          <a:noFill/>
          <a:ln/>
        </p:spPr>
        <p:txBody>
          <a:bodyPr wrap="none" lIns="0" tIns="0" rIns="0" bIns="0" rtlCol="0" anchor="t"/>
          <a:lstStyle/>
          <a:p>
            <a:pPr algn="ctr" indent="0" marL="0">
              <a:lnSpc>
                <a:spcPct val="104000"/>
              </a:lnSpc>
              <a:buNone/>
            </a:pPr>
            <a:r>
              <a:rPr lang="en-US" sz="3250" dirty="0">
                <a:solidFill>
                  <a:srgbClr val="030303"/>
                </a:solidFill>
                <a:latin typeface="DM Sans SemiBold" pitchFamily="34" charset="0"/>
                <a:ea typeface="DM Sans SemiBold" pitchFamily="34" charset="-122"/>
                <a:cs typeface="DM Sans SemiBold" pitchFamily="34" charset="-120"/>
              </a:rPr>
              <a:t>Why It Is Feasible &amp; Different</a:t>
            </a:r>
            <a:endParaRPr lang="en-US" sz="3250" dirty="0"/>
          </a:p>
        </p:txBody>
      </p:sp>
      <p:sp>
        <p:nvSpPr>
          <p:cNvPr id="7" name="Text 5"/>
          <p:cNvSpPr/>
          <p:nvPr/>
        </p:nvSpPr>
        <p:spPr>
          <a:xfrm>
            <a:off x="661475" y="2682776"/>
            <a:ext cx="4669018" cy="258465"/>
          </a:xfrm>
          <a:prstGeom prst="rect">
            <a:avLst/>
          </a:prstGeom>
          <a:noFill/>
          <a:ln/>
        </p:spPr>
        <p:txBody>
          <a:bodyPr wrap="none" lIns="0" tIns="0" rIns="0" bIns="0" rtlCol="0" anchor="t"/>
          <a:lstStyle/>
          <a:p>
            <a:pPr algn="l" indent="0" marL="0">
              <a:lnSpc>
                <a:spcPct val="104000"/>
              </a:lnSpc>
              <a:buNone/>
            </a:pPr>
            <a:r>
              <a:rPr lang="en-US" sz="1600" dirty="0">
                <a:solidFill>
                  <a:srgbClr val="030303"/>
                </a:solidFill>
                <a:latin typeface="DM Sans SemiBold" pitchFamily="34" charset="0"/>
                <a:ea typeface="DM Sans SemiBold" pitchFamily="34" charset="-122"/>
                <a:cs typeface="DM Sans SemiBold" pitchFamily="34" charset="-120"/>
              </a:rPr>
              <a:t>Feasibility Pillars</a:t>
            </a:r>
            <a:endParaRPr lang="en-US" sz="16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485" y="3132336"/>
            <a:ext cx="248041" cy="248047"/>
          </a:xfrm>
          <a:prstGeom prst="rect">
            <a:avLst/>
          </a:prstGeom>
        </p:spPr>
      </p:pic>
      <p:sp>
        <p:nvSpPr>
          <p:cNvPr id="9" name="Text 6"/>
          <p:cNvSpPr/>
          <p:nvPr/>
        </p:nvSpPr>
        <p:spPr>
          <a:xfrm>
            <a:off x="1198830" y="3127276"/>
            <a:ext cx="4131663" cy="258465"/>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Modular Web-Based Architecture</a:t>
            </a:r>
            <a:endParaRPr lang="en-US" sz="1600" dirty="0"/>
          </a:p>
        </p:txBody>
      </p:sp>
      <p:sp>
        <p:nvSpPr>
          <p:cNvPr id="10" name="Text 7"/>
          <p:cNvSpPr/>
          <p:nvPr/>
        </p:nvSpPr>
        <p:spPr>
          <a:xfrm>
            <a:off x="1198830" y="3551039"/>
            <a:ext cx="4131663"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Deployable on standard government cloud environments with minimal setup overhead.</a:t>
            </a:r>
            <a:endParaRPr lang="en-US" sz="1300" dirty="0"/>
          </a:p>
        </p:txBody>
      </p:sp>
      <p:sp>
        <p:nvSpPr>
          <p:cNvPr id="11" name="Shape 8"/>
          <p:cNvSpPr/>
          <p:nvPr/>
        </p:nvSpPr>
        <p:spPr>
          <a:xfrm>
            <a:off x="5621197" y="2517477"/>
            <a:ext cx="6034333" cy="2905224"/>
          </a:xfrm>
          <a:prstGeom prst="roundRect">
            <a:avLst>
              <a:gd name="adj" fmla="val 854"/>
            </a:avLst>
          </a:prstGeom>
          <a:solidFill>
            <a:srgbClr val="061B2A"/>
          </a:solidFill>
          <a:ln/>
        </p:spPr>
      </p:sp>
      <p:sp>
        <p:nvSpPr>
          <p:cNvPr id="12" name="Text 9"/>
          <p:cNvSpPr/>
          <p:nvPr/>
        </p:nvSpPr>
        <p:spPr>
          <a:xfrm>
            <a:off x="5786491" y="2682776"/>
            <a:ext cx="5703745" cy="258465"/>
          </a:xfrm>
          <a:prstGeom prst="rect">
            <a:avLst/>
          </a:prstGeom>
          <a:noFill/>
          <a:ln/>
        </p:spPr>
        <p:txBody>
          <a:bodyPr wrap="none" lIns="0" tIns="0" rIns="0" bIns="0" rtlCol="0" anchor="t"/>
          <a:lstStyle/>
          <a:p>
            <a:pPr algn="l" indent="0" marL="0">
              <a:lnSpc>
                <a:spcPct val="104000"/>
              </a:lnSpc>
              <a:buNone/>
            </a:pPr>
            <a:r>
              <a:rPr lang="en-US" sz="1600" dirty="0">
                <a:solidFill>
                  <a:srgbClr val="FFFFFF"/>
                </a:solidFill>
                <a:latin typeface="DM Sans SemiBold" pitchFamily="34" charset="0"/>
                <a:ea typeface="DM Sans SemiBold" pitchFamily="34" charset="-122"/>
                <a:cs typeface="DM Sans SemiBold" pitchFamily="34" charset="-120"/>
              </a:rPr>
              <a:t>What Makes AvsarAI SkillBridge Different</a:t>
            </a:r>
            <a:endParaRPr lang="en-US" sz="1600" dirty="0"/>
          </a:p>
        </p:txBody>
      </p:sp>
      <p:sp>
        <p:nvSpPr>
          <p:cNvPr id="13" name="Shape 10"/>
          <p:cNvSpPr/>
          <p:nvPr/>
        </p:nvSpPr>
        <p:spPr>
          <a:xfrm>
            <a:off x="5786491" y="3127276"/>
            <a:ext cx="2769225" cy="2109391"/>
          </a:xfrm>
          <a:prstGeom prst="roundRect">
            <a:avLst>
              <a:gd name="adj" fmla="val 1176"/>
            </a:avLst>
          </a:prstGeom>
          <a:solidFill>
            <a:srgbClr val="061B2A"/>
          </a:solidFill>
          <a:ln w="19050">
            <a:solidFill>
              <a:srgbClr val="D8D4D4"/>
            </a:solidFill>
            <a:prstDash val="solid"/>
          </a:ln>
        </p:spPr>
      </p:sp>
      <p:sp>
        <p:nvSpPr>
          <p:cNvPr id="14" name="Text 11"/>
          <p:cNvSpPr/>
          <p:nvPr/>
        </p:nvSpPr>
        <p:spPr>
          <a:xfrm>
            <a:off x="5970835" y="3311624"/>
            <a:ext cx="2400538"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FFFFFF"/>
                </a:solidFill>
                <a:latin typeface="DM Sans SemiBold" pitchFamily="34" charset="0"/>
                <a:ea typeface="DM Sans SemiBold" pitchFamily="34" charset="-122"/>
                <a:cs typeface="DM Sans SemiBold" pitchFamily="34" charset="-120"/>
              </a:rPr>
              <a:t>Skill-Gap Based Matching</a:t>
            </a:r>
            <a:endParaRPr lang="en-US" sz="1600" dirty="0"/>
          </a:p>
        </p:txBody>
      </p:sp>
      <p:sp>
        <p:nvSpPr>
          <p:cNvPr id="15" name="Text 12"/>
          <p:cNvSpPr/>
          <p:nvPr/>
        </p:nvSpPr>
        <p:spPr>
          <a:xfrm>
            <a:off x="5970835" y="3993852"/>
            <a:ext cx="2400538"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Inter Medium" pitchFamily="34" charset="0"/>
                <a:ea typeface="Inter Medium" pitchFamily="34" charset="-122"/>
                <a:cs typeface="Inter Medium" pitchFamily="34" charset="-120"/>
              </a:rPr>
              <a:t>Internships recommended based on detected learning gaps—not keyword overlap or arbitrary filters.</a:t>
            </a:r>
            <a:endParaRPr lang="en-US" sz="1300" dirty="0"/>
          </a:p>
        </p:txBody>
      </p:sp>
      <p:sp>
        <p:nvSpPr>
          <p:cNvPr id="16" name="Shape 13"/>
          <p:cNvSpPr/>
          <p:nvPr/>
        </p:nvSpPr>
        <p:spPr>
          <a:xfrm>
            <a:off x="8721011" y="3127276"/>
            <a:ext cx="2769225" cy="2109391"/>
          </a:xfrm>
          <a:prstGeom prst="roundRect">
            <a:avLst>
              <a:gd name="adj" fmla="val 1176"/>
            </a:avLst>
          </a:prstGeom>
          <a:solidFill>
            <a:srgbClr val="061B2A"/>
          </a:solidFill>
          <a:ln w="19050">
            <a:solidFill>
              <a:srgbClr val="D8D4D4"/>
            </a:solidFill>
            <a:prstDash val="solid"/>
          </a:ln>
        </p:spPr>
      </p:sp>
      <p:sp>
        <p:nvSpPr>
          <p:cNvPr id="17" name="Text 14"/>
          <p:cNvSpPr/>
          <p:nvPr/>
        </p:nvSpPr>
        <p:spPr>
          <a:xfrm>
            <a:off x="8905355" y="3311624"/>
            <a:ext cx="2400538" cy="258465"/>
          </a:xfrm>
          <a:prstGeom prst="rect">
            <a:avLst/>
          </a:prstGeom>
          <a:noFill/>
          <a:ln/>
        </p:spPr>
        <p:txBody>
          <a:bodyPr wrap="none" lIns="0" tIns="0" rIns="0" bIns="0" rtlCol="0" anchor="t"/>
          <a:lstStyle/>
          <a:p>
            <a:pPr algn="l" indent="0" marL="0">
              <a:lnSpc>
                <a:spcPct val="104000"/>
              </a:lnSpc>
              <a:buNone/>
            </a:pPr>
            <a:r>
              <a:rPr lang="en-US" sz="1600" dirty="0">
                <a:solidFill>
                  <a:srgbClr val="FFFFFF"/>
                </a:solidFill>
                <a:latin typeface="DM Sans SemiBold" pitchFamily="34" charset="0"/>
                <a:ea typeface="DM Sans SemiBold" pitchFamily="34" charset="-122"/>
                <a:cs typeface="DM Sans SemiBold" pitchFamily="34" charset="-120"/>
              </a:rPr>
              <a:t>Tech Assignment</a:t>
            </a:r>
            <a:endParaRPr lang="en-US" sz="1600" dirty="0"/>
          </a:p>
        </p:txBody>
      </p:sp>
      <p:sp>
        <p:nvSpPr>
          <p:cNvPr id="18" name="Text 15"/>
          <p:cNvSpPr/>
          <p:nvPr/>
        </p:nvSpPr>
        <p:spPr>
          <a:xfrm>
            <a:off x="8905355" y="3735388"/>
            <a:ext cx="2400538"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Inter Medium" pitchFamily="34" charset="0"/>
                <a:ea typeface="Inter Medium" pitchFamily="34" charset="-122"/>
                <a:cs typeface="Inter Medium" pitchFamily="34" charset="-120"/>
              </a:rPr>
              <a:t>Students complete technical assignments to verify skills</a:t>
            </a:r>
            <a:endParaRPr lang="en-US" sz="1300" dirty="0"/>
          </a:p>
          <a:p>
            <a:pPr algn="l" indent="0" marL="0">
              <a:lnSpc>
                <a:spcPct val="133000"/>
              </a:lnSpc>
              <a:buNone/>
            </a:pPr>
            <a:r>
              <a:rPr lang="en-US" sz="1300" dirty="0">
                <a:solidFill>
                  <a:srgbClr val="FFFFFF"/>
                </a:solidFill>
                <a:latin typeface="Inter Medium" pitchFamily="34" charset="0"/>
                <a:ea typeface="Inter Medium" pitchFamily="34" charset="-122"/>
                <a:cs typeface="Inter Medium" pitchFamily="34" charset="-120"/>
              </a:rPr>
              <a:t>and demonstrate readiness through practical evaluation.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1345208"/>
            <a:ext cx="1071833" cy="251420"/>
          </a:xfrm>
          <a:prstGeom prst="roundRect">
            <a:avLst>
              <a:gd name="adj" fmla="val 7894"/>
            </a:avLst>
          </a:prstGeom>
          <a:solidFill>
            <a:srgbClr val="D4F7EC"/>
          </a:solidFill>
          <a:ln/>
        </p:spPr>
      </p:sp>
      <p:sp>
        <p:nvSpPr>
          <p:cNvPr id="3" name="Text 1"/>
          <p:cNvSpPr/>
          <p:nvPr/>
        </p:nvSpPr>
        <p:spPr>
          <a:xfrm>
            <a:off x="760691" y="1394817"/>
            <a:ext cx="1482986" cy="152202"/>
          </a:xfrm>
          <a:prstGeom prst="rect">
            <a:avLst/>
          </a:prstGeom>
          <a:noFill/>
          <a:ln/>
        </p:spPr>
        <p:txBody>
          <a:bodyPr wrap="none" lIns="0" tIns="0" rIns="0" bIns="0" rtlCol="0" anchor="t"/>
          <a:lstStyle/>
          <a:p>
            <a:pPr algn="l" indent="0" marL="0">
              <a:lnSpc>
                <a:spcPct val="96000"/>
              </a:lnSpc>
              <a:buNone/>
            </a:pPr>
            <a:r>
              <a:rPr lang="en-US" sz="1000" dirty="0">
                <a:solidFill>
                  <a:srgbClr val="464646"/>
                </a:solidFill>
                <a:latin typeface="Inter Medium" pitchFamily="34" charset="0"/>
                <a:ea typeface="Inter Medium" pitchFamily="34" charset="-122"/>
                <a:cs typeface="Inter Medium" pitchFamily="34" charset="-120"/>
              </a:rPr>
              <a:t>TECH TITANS</a:t>
            </a:r>
            <a:endParaRPr lang="en-US" sz="1000" dirty="0"/>
          </a:p>
        </p:txBody>
      </p:sp>
      <p:sp>
        <p:nvSpPr>
          <p:cNvPr id="4" name="Shape 2"/>
          <p:cNvSpPr/>
          <p:nvPr/>
        </p:nvSpPr>
        <p:spPr>
          <a:xfrm>
            <a:off x="1815955" y="1345208"/>
            <a:ext cx="1564541" cy="251420"/>
          </a:xfrm>
          <a:prstGeom prst="roundRect">
            <a:avLst>
              <a:gd name="adj" fmla="val 7894"/>
            </a:avLst>
          </a:prstGeom>
          <a:noFill/>
          <a:ln w="6350">
            <a:solidFill>
              <a:srgbClr val="1C9770"/>
            </a:solidFill>
            <a:prstDash val="solid"/>
          </a:ln>
        </p:spPr>
      </p:sp>
      <p:sp>
        <p:nvSpPr>
          <p:cNvPr id="5" name="Text 3"/>
          <p:cNvSpPr/>
          <p:nvPr/>
        </p:nvSpPr>
        <p:spPr>
          <a:xfrm>
            <a:off x="1915172" y="1394817"/>
            <a:ext cx="1975694" cy="152202"/>
          </a:xfrm>
          <a:prstGeom prst="rect">
            <a:avLst/>
          </a:prstGeom>
          <a:noFill/>
          <a:ln/>
        </p:spPr>
        <p:txBody>
          <a:bodyPr wrap="none" lIns="0" tIns="0" rIns="0" bIns="0" rtlCol="0" anchor="t"/>
          <a:lstStyle/>
          <a:p>
            <a:pPr algn="l" indent="0" marL="0">
              <a:lnSpc>
                <a:spcPct val="96000"/>
              </a:lnSpc>
              <a:buNone/>
            </a:pPr>
            <a:r>
              <a:rPr lang="en-US" sz="1000" dirty="0">
                <a:solidFill>
                  <a:srgbClr val="1C9770"/>
                </a:solidFill>
                <a:latin typeface="Inter Medium" pitchFamily="34" charset="0"/>
                <a:ea typeface="Inter Medium" pitchFamily="34" charset="-122"/>
                <a:cs typeface="Inter Medium" pitchFamily="34" charset="-120"/>
              </a:rPr>
              <a:t>ECOSYSTEM IMPACT</a:t>
            </a:r>
            <a:endParaRPr lang="en-US" sz="1000" dirty="0"/>
          </a:p>
        </p:txBody>
      </p:sp>
      <p:sp>
        <p:nvSpPr>
          <p:cNvPr id="6" name="Text 4"/>
          <p:cNvSpPr/>
          <p:nvPr/>
        </p:nvSpPr>
        <p:spPr>
          <a:xfrm>
            <a:off x="661475" y="1662708"/>
            <a:ext cx="10868745" cy="516731"/>
          </a:xfrm>
          <a:prstGeom prst="rect">
            <a:avLst/>
          </a:prstGeom>
          <a:noFill/>
          <a:ln/>
        </p:spPr>
        <p:txBody>
          <a:bodyPr wrap="none" lIns="0" tIns="0" rIns="0" bIns="0" rtlCol="0" anchor="t"/>
          <a:lstStyle/>
          <a:p>
            <a:pPr algn="ctr" indent="0" marL="0">
              <a:lnSpc>
                <a:spcPct val="104000"/>
              </a:lnSpc>
              <a:buNone/>
            </a:pPr>
            <a:r>
              <a:rPr lang="en-US" sz="3250" dirty="0">
                <a:solidFill>
                  <a:srgbClr val="030303"/>
                </a:solidFill>
                <a:latin typeface="DM Sans SemiBold" pitchFamily="34" charset="0"/>
                <a:ea typeface="DM Sans SemiBold" pitchFamily="34" charset="-122"/>
                <a:cs typeface="DM Sans SemiBold" pitchFamily="34" charset="-120"/>
              </a:rPr>
              <a:t>Connecting the Complete AvsarAI Career Ecosystem</a:t>
            </a:r>
            <a:endParaRPr lang="en-US" sz="3250" dirty="0"/>
          </a:p>
        </p:txBody>
      </p:sp>
      <p:sp>
        <p:nvSpPr>
          <p:cNvPr id="7" name="Text 5"/>
          <p:cNvSpPr/>
          <p:nvPr/>
        </p:nvSpPr>
        <p:spPr>
          <a:xfrm>
            <a:off x="356682" y="2427486"/>
            <a:ext cx="11478330" cy="270966"/>
          </a:xfrm>
          <a:prstGeom prst="rect">
            <a:avLst/>
          </a:prstGeom>
          <a:noFill/>
          <a:ln/>
        </p:spPr>
        <p:txBody>
          <a:bodyPr wrap="none" lIns="0" tIns="0" rIns="0" bIns="0" rtlCol="0" anchor="t"/>
          <a:lstStyle/>
          <a:p>
            <a:pPr algn="ctr" indent="0" marL="0">
              <a:lnSpc>
                <a:spcPct val="133000"/>
              </a:lnSpc>
              <a:buNone/>
            </a:pPr>
            <a:r>
              <a:rPr lang="en-US" sz="1300" b="1" dirty="0">
                <a:solidFill>
                  <a:srgbClr val="167AC6"/>
                </a:solidFill>
                <a:latin typeface="Inter Bold" pitchFamily="34" charset="0"/>
                <a:ea typeface="Inter Bold" pitchFamily="34" charset="-122"/>
                <a:cs typeface="Inter Bold" pitchFamily="34" charset="-120"/>
              </a:rPr>
              <a:t>STUDENTS</a:t>
            </a:r>
            <a:pPr algn="ctr" indent="0" marL="0">
              <a:lnSpc>
                <a:spcPct val="133000"/>
              </a:lnSpc>
              <a:buNone/>
            </a:pPr>
            <a:r>
              <a:rPr lang="en-US" sz="1300" b="1" dirty="0">
                <a:solidFill>
                  <a:srgbClr val="464646"/>
                </a:solidFill>
                <a:latin typeface="Inter Bold" pitchFamily="34" charset="0"/>
                <a:ea typeface="Inter Bold" pitchFamily="34" charset="-122"/>
                <a:cs typeface="Inter Bold" pitchFamily="34" charset="-120"/>
              </a:rPr>
              <a:t>  </a:t>
            </a:r>
            <a:pPr algn="ctr" indent="0" marL="0">
              <a:lnSpc>
                <a:spcPct val="133000"/>
              </a:lnSpc>
              <a:buNone/>
            </a:pPr>
            <a:r>
              <a:rPr lang="en-US" sz="1300" dirty="0">
                <a:solidFill>
                  <a:srgbClr val="000000"/>
                </a:solidFill>
                <a:latin typeface="Twemoji Mozilla" pitchFamily="34" charset="0"/>
                <a:ea typeface="Twemoji Mozilla" pitchFamily="34" charset="-122"/>
                <a:cs typeface="Twemoji Mozilla" pitchFamily="34" charset="-120"/>
              </a:rPr>
              <a:t>↔</a:t>
            </a:r>
            <a:pPr algn="ctr" indent="0" marL="0">
              <a:lnSpc>
                <a:spcPct val="133000"/>
              </a:lnSpc>
              <a:buNone/>
            </a:pPr>
            <a:r>
              <a:rPr lang="en-US" sz="1300" b="1" dirty="0">
                <a:solidFill>
                  <a:srgbClr val="464646"/>
                </a:solidFill>
                <a:latin typeface="Inter Bold" pitchFamily="34" charset="0"/>
                <a:ea typeface="Inter Bold" pitchFamily="34" charset="-122"/>
                <a:cs typeface="Inter Bold" pitchFamily="34" charset="-120"/>
              </a:rPr>
              <a:t>  </a:t>
            </a:r>
            <a:pPr algn="ctr" indent="0" marL="0">
              <a:lnSpc>
                <a:spcPct val="133000"/>
              </a:lnSpc>
              <a:buNone/>
            </a:pPr>
            <a:r>
              <a:rPr lang="en-US" sz="1300" b="1" dirty="0">
                <a:solidFill>
                  <a:srgbClr val="F2A900"/>
                </a:solidFill>
                <a:latin typeface="Inter Bold" pitchFamily="34" charset="0"/>
                <a:ea typeface="Inter Bold" pitchFamily="34" charset="-122"/>
                <a:cs typeface="Inter Bold" pitchFamily="34" charset="-120"/>
              </a:rPr>
              <a:t>INDUSTRY</a:t>
            </a:r>
            <a:pPr algn="ctr" indent="0" marL="0">
              <a:lnSpc>
                <a:spcPct val="133000"/>
              </a:lnSpc>
              <a:buNone/>
            </a:pPr>
            <a:r>
              <a:rPr lang="en-US" sz="1300" b="1" dirty="0">
                <a:solidFill>
                  <a:srgbClr val="464646"/>
                </a:solidFill>
                <a:latin typeface="Inter Bold" pitchFamily="34" charset="0"/>
                <a:ea typeface="Inter Bold" pitchFamily="34" charset="-122"/>
                <a:cs typeface="Inter Bold" pitchFamily="34" charset="-120"/>
              </a:rPr>
              <a:t>  </a:t>
            </a:r>
            <a:pPr algn="ctr" indent="0" marL="0">
              <a:lnSpc>
                <a:spcPct val="133000"/>
              </a:lnSpc>
              <a:buNone/>
            </a:pPr>
            <a:r>
              <a:rPr lang="en-US" sz="1300" dirty="0">
                <a:solidFill>
                  <a:srgbClr val="000000"/>
                </a:solidFill>
                <a:latin typeface="Twemoji Mozilla" pitchFamily="34" charset="0"/>
                <a:ea typeface="Twemoji Mozilla" pitchFamily="34" charset="-122"/>
                <a:cs typeface="Twemoji Mozilla" pitchFamily="34" charset="-120"/>
              </a:rPr>
              <a:t>↔</a:t>
            </a:r>
            <a:pPr algn="ctr" indent="0" marL="0">
              <a:lnSpc>
                <a:spcPct val="133000"/>
              </a:lnSpc>
              <a:buNone/>
            </a:pPr>
            <a:r>
              <a:rPr lang="en-US" sz="1300" b="1" dirty="0">
                <a:solidFill>
                  <a:srgbClr val="464646"/>
                </a:solidFill>
                <a:latin typeface="Inter Bold" pitchFamily="34" charset="0"/>
                <a:ea typeface="Inter Bold" pitchFamily="34" charset="-122"/>
                <a:cs typeface="Inter Bold" pitchFamily="34" charset="-120"/>
              </a:rPr>
              <a:t>  </a:t>
            </a:r>
            <a:pPr algn="ctr" indent="0" marL="0">
              <a:lnSpc>
                <a:spcPct val="133000"/>
              </a:lnSpc>
              <a:buNone/>
            </a:pPr>
            <a:r>
              <a:rPr lang="en-US" sz="1300" b="1" dirty="0">
                <a:solidFill>
                  <a:srgbClr val="061B2A"/>
                </a:solidFill>
                <a:latin typeface="Inter Bold" pitchFamily="34" charset="0"/>
                <a:ea typeface="Inter Bold" pitchFamily="34" charset="-122"/>
                <a:cs typeface="Inter Bold" pitchFamily="34" charset="-120"/>
              </a:rPr>
              <a:t>MINISTRY</a:t>
            </a:r>
            <a:endParaRPr lang="en-US" sz="1300" dirty="0"/>
          </a:p>
        </p:txBody>
      </p:sp>
      <p:pic>
        <p:nvPicPr>
          <p:cNvPr id="8" name="Image 0" descr="preencoded.png">    </p:cNvPr>
          <p:cNvPicPr>
            <a:picLocks noChangeAspect="1"/>
          </p:cNvPicPr>
          <p:nvPr/>
        </p:nvPicPr>
        <p:blipFill>
          <a:blip r:embed="rId1"/>
          <a:stretch>
            <a:fillRect/>
          </a:stretch>
        </p:blipFill>
        <p:spPr>
          <a:xfrm>
            <a:off x="661475" y="2884488"/>
            <a:ext cx="1533387" cy="947638"/>
          </a:xfrm>
          <a:prstGeom prst="rect">
            <a:avLst/>
          </a:prstGeom>
        </p:spPr>
      </p:pic>
      <p:sp>
        <p:nvSpPr>
          <p:cNvPr id="9" name="Text 6"/>
          <p:cNvSpPr/>
          <p:nvPr/>
        </p:nvSpPr>
        <p:spPr>
          <a:xfrm>
            <a:off x="661475" y="4038798"/>
            <a:ext cx="3485071" cy="258465"/>
          </a:xfrm>
          <a:prstGeom prst="rect">
            <a:avLst/>
          </a:prstGeom>
          <a:noFill/>
          <a:ln/>
        </p:spPr>
        <p:txBody>
          <a:bodyPr wrap="none" lIns="0" tIns="0" rIns="0" bIns="0" rtlCol="0" anchor="t"/>
          <a:lstStyle/>
          <a:p>
            <a:pPr algn="l" indent="0" marL="0">
              <a:lnSpc>
                <a:spcPct val="104000"/>
              </a:lnSpc>
              <a:buNone/>
            </a:pPr>
            <a:r>
              <a:rPr lang="en-US" sz="1600" dirty="0">
                <a:solidFill>
                  <a:srgbClr val="167AC6"/>
                </a:solidFill>
                <a:latin typeface="DM Sans SemiBold" pitchFamily="34" charset="0"/>
                <a:ea typeface="DM Sans SemiBold" pitchFamily="34" charset="-122"/>
                <a:cs typeface="DM Sans SemiBold" pitchFamily="34" charset="-120"/>
              </a:rPr>
              <a:t>Students</a:t>
            </a:r>
            <a:endParaRPr lang="en-US" sz="1600" dirty="0"/>
          </a:p>
        </p:txBody>
      </p:sp>
      <p:sp>
        <p:nvSpPr>
          <p:cNvPr id="10" name="Text 7"/>
          <p:cNvSpPr/>
          <p:nvPr/>
        </p:nvSpPr>
        <p:spPr>
          <a:xfrm>
            <a:off x="661475" y="4396482"/>
            <a:ext cx="3485071" cy="1116310"/>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464646"/>
                </a:solidFill>
                <a:latin typeface="Inter Medium" pitchFamily="34" charset="0"/>
                <a:ea typeface="Inter Medium" pitchFamily="34" charset="-122"/>
                <a:cs typeface="Inter Medium" pitchFamily="34" charset="-120"/>
              </a:rPr>
              <a:t>Find internships aligned to curriculum and skill level</a:t>
            </a:r>
            <a:endParaRPr lang="en-US" sz="1300" dirty="0"/>
          </a:p>
          <a:p>
            <a:pPr algn="l" marL="264160" indent="-264160">
              <a:lnSpc>
                <a:spcPct val="133000"/>
              </a:lnSpc>
              <a:buSzPct val="100000"/>
              <a:buChar char="•"/>
            </a:pPr>
            <a:r>
              <a:rPr lang="en-US" sz="1300" dirty="0">
                <a:solidFill>
                  <a:srgbClr val="464646"/>
                </a:solidFill>
                <a:latin typeface="Inter Medium" pitchFamily="34" charset="0"/>
                <a:ea typeface="Inter Medium" pitchFamily="34" charset="-122"/>
                <a:cs typeface="Inter Medium" pitchFamily="34" charset="-120"/>
              </a:rPr>
              <a:t>Bridge skill gaps and earn portable, verified credentials</a:t>
            </a:r>
            <a:endParaRPr lang="en-US" sz="1300" dirty="0"/>
          </a:p>
        </p:txBody>
      </p:sp>
      <p:pic>
        <p:nvPicPr>
          <p:cNvPr id="11" name="Image 1" descr="preencoded.png">    </p:cNvPr>
          <p:cNvPicPr>
            <a:picLocks noChangeAspect="1"/>
          </p:cNvPicPr>
          <p:nvPr/>
        </p:nvPicPr>
        <p:blipFill>
          <a:blip r:embed="rId2"/>
          <a:stretch>
            <a:fillRect/>
          </a:stretch>
        </p:blipFill>
        <p:spPr>
          <a:xfrm>
            <a:off x="4353213" y="2884488"/>
            <a:ext cx="1533387" cy="947638"/>
          </a:xfrm>
          <a:prstGeom prst="rect">
            <a:avLst/>
          </a:prstGeom>
        </p:spPr>
      </p:pic>
      <p:sp>
        <p:nvSpPr>
          <p:cNvPr id="12" name="Text 8"/>
          <p:cNvSpPr/>
          <p:nvPr/>
        </p:nvSpPr>
        <p:spPr>
          <a:xfrm>
            <a:off x="4353213" y="4038798"/>
            <a:ext cx="3485170" cy="258465"/>
          </a:xfrm>
          <a:prstGeom prst="rect">
            <a:avLst/>
          </a:prstGeom>
          <a:noFill/>
          <a:ln/>
        </p:spPr>
        <p:txBody>
          <a:bodyPr wrap="none" lIns="0" tIns="0" rIns="0" bIns="0" rtlCol="0" anchor="t"/>
          <a:lstStyle/>
          <a:p>
            <a:pPr algn="l" indent="0" marL="0">
              <a:lnSpc>
                <a:spcPct val="104000"/>
              </a:lnSpc>
              <a:buNone/>
            </a:pPr>
            <a:r>
              <a:rPr lang="en-US" sz="1600" dirty="0">
                <a:solidFill>
                  <a:srgbClr val="F2A900"/>
                </a:solidFill>
                <a:latin typeface="DM Sans SemiBold" pitchFamily="34" charset="0"/>
                <a:ea typeface="DM Sans SemiBold" pitchFamily="34" charset="-122"/>
                <a:cs typeface="DM Sans SemiBold" pitchFamily="34" charset="-120"/>
              </a:rPr>
              <a:t>Industry</a:t>
            </a:r>
            <a:endParaRPr lang="en-US" sz="1600" dirty="0"/>
          </a:p>
        </p:txBody>
      </p:sp>
      <p:sp>
        <p:nvSpPr>
          <p:cNvPr id="13" name="Text 9"/>
          <p:cNvSpPr/>
          <p:nvPr/>
        </p:nvSpPr>
        <p:spPr>
          <a:xfrm>
            <a:off x="4353213" y="4396482"/>
            <a:ext cx="3485170" cy="1116310"/>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464646"/>
                </a:solidFill>
                <a:latin typeface="Inter Medium" pitchFamily="34" charset="0"/>
                <a:ea typeface="Inter Medium" pitchFamily="34" charset="-122"/>
                <a:cs typeface="Inter Medium" pitchFamily="34" charset="-120"/>
              </a:rPr>
              <a:t>Find skill-matched AvsarAI talent with verified credentials</a:t>
            </a:r>
            <a:endParaRPr lang="en-US" sz="1300" dirty="0"/>
          </a:p>
          <a:p>
            <a:pPr algn="l" marL="264160" indent="-264160">
              <a:lnSpc>
                <a:spcPct val="133000"/>
              </a:lnSpc>
              <a:buSzPct val="100000"/>
              <a:buChar char="•"/>
            </a:pPr>
            <a:r>
              <a:rPr lang="en-US" sz="1300" dirty="0">
                <a:solidFill>
                  <a:srgbClr val="464646"/>
                </a:solidFill>
                <a:latin typeface="Inter Medium" pitchFamily="34" charset="0"/>
                <a:ea typeface="Inter Medium" pitchFamily="34" charset="-122"/>
                <a:cs typeface="Inter Medium" pitchFamily="34" charset="-120"/>
              </a:rPr>
              <a:t>Post internships and projects to a targeted pool</a:t>
            </a:r>
            <a:endParaRPr lang="en-US" sz="1300" dirty="0"/>
          </a:p>
        </p:txBody>
      </p:sp>
      <p:pic>
        <p:nvPicPr>
          <p:cNvPr id="14" name="Image 2" descr="preencoded.png">    </p:cNvPr>
          <p:cNvPicPr>
            <a:picLocks noChangeAspect="1"/>
          </p:cNvPicPr>
          <p:nvPr/>
        </p:nvPicPr>
        <p:blipFill>
          <a:blip r:embed="rId3"/>
          <a:stretch>
            <a:fillRect/>
          </a:stretch>
        </p:blipFill>
        <p:spPr>
          <a:xfrm>
            <a:off x="8045050" y="2884488"/>
            <a:ext cx="1533387" cy="947638"/>
          </a:xfrm>
          <a:prstGeom prst="rect">
            <a:avLst/>
          </a:prstGeom>
        </p:spPr>
      </p:pic>
      <p:sp>
        <p:nvSpPr>
          <p:cNvPr id="15" name="Text 10"/>
          <p:cNvSpPr/>
          <p:nvPr/>
        </p:nvSpPr>
        <p:spPr>
          <a:xfrm>
            <a:off x="8045050" y="4038798"/>
            <a:ext cx="3485170" cy="258465"/>
          </a:xfrm>
          <a:prstGeom prst="rect">
            <a:avLst/>
          </a:prstGeom>
          <a:noFill/>
          <a:ln/>
        </p:spPr>
        <p:txBody>
          <a:bodyPr wrap="none" lIns="0" tIns="0" rIns="0" bIns="0" rtlCol="0" anchor="t"/>
          <a:lstStyle/>
          <a:p>
            <a:pPr algn="l" indent="0" marL="0">
              <a:lnSpc>
                <a:spcPct val="104000"/>
              </a:lnSpc>
              <a:buNone/>
            </a:pPr>
            <a:r>
              <a:rPr lang="en-US" sz="1600" dirty="0">
                <a:solidFill>
                  <a:srgbClr val="061B2A"/>
                </a:solidFill>
                <a:latin typeface="DM Sans SemiBold" pitchFamily="34" charset="0"/>
                <a:ea typeface="DM Sans SemiBold" pitchFamily="34" charset="-122"/>
                <a:cs typeface="DM Sans SemiBold" pitchFamily="34" charset="-120"/>
              </a:rPr>
              <a:t>AvsarAI Ecosystem</a:t>
            </a:r>
            <a:endParaRPr lang="en-US" sz="1600" dirty="0"/>
          </a:p>
        </p:txBody>
      </p:sp>
      <p:sp>
        <p:nvSpPr>
          <p:cNvPr id="16" name="Text 11"/>
          <p:cNvSpPr/>
          <p:nvPr/>
        </p:nvSpPr>
        <p:spPr>
          <a:xfrm>
            <a:off x="8045050" y="4396482"/>
            <a:ext cx="3485170" cy="1116310"/>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464646"/>
                </a:solidFill>
                <a:latin typeface="Inter Medium" pitchFamily="34" charset="0"/>
                <a:ea typeface="Inter Medium" pitchFamily="34" charset="-122"/>
                <a:cs typeface="Inter Medium" pitchFamily="34" charset="-120"/>
              </a:rPr>
              <a:t>Strengthen academia–industry collaboration at scale</a:t>
            </a:r>
            <a:endParaRPr lang="en-US" sz="1300" dirty="0"/>
          </a:p>
          <a:p>
            <a:pPr algn="l" marL="264160" indent="-264160">
              <a:lnSpc>
                <a:spcPct val="133000"/>
              </a:lnSpc>
              <a:buSzPct val="100000"/>
              <a:buChar char="•"/>
            </a:pPr>
            <a:r>
              <a:rPr lang="en-US" sz="1300" dirty="0">
                <a:solidFill>
                  <a:srgbClr val="464646"/>
                </a:solidFill>
                <a:latin typeface="Inter Medium" pitchFamily="34" charset="0"/>
                <a:ea typeface="Inter Medium" pitchFamily="34" charset="-122"/>
                <a:cs typeface="Inter Medium" pitchFamily="34" charset="-120"/>
              </a:rPr>
              <a:t>Enable data-driven curriculum and policy reform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27348"/>
            <a:ext cx="887688" cy="208062"/>
          </a:xfrm>
          <a:prstGeom prst="roundRect">
            <a:avLst>
              <a:gd name="adj" fmla="val 7899"/>
            </a:avLst>
          </a:prstGeom>
          <a:solidFill>
            <a:srgbClr val="D4F7EC"/>
          </a:solidFill>
          <a:ln/>
        </p:spPr>
      </p:sp>
      <p:sp>
        <p:nvSpPr>
          <p:cNvPr id="3" name="Text 1"/>
          <p:cNvSpPr/>
          <p:nvPr/>
        </p:nvSpPr>
        <p:spPr>
          <a:xfrm>
            <a:off x="743626" y="568424"/>
            <a:ext cx="1332971" cy="125909"/>
          </a:xfrm>
          <a:prstGeom prst="rect">
            <a:avLst/>
          </a:prstGeom>
          <a:noFill/>
          <a:ln/>
        </p:spPr>
        <p:txBody>
          <a:bodyPr wrap="none" lIns="0" tIns="0" rIns="0" bIns="0" rtlCol="0" anchor="t"/>
          <a:lstStyle/>
          <a:p>
            <a:pPr algn="l" indent="0" marL="0">
              <a:lnSpc>
                <a:spcPct val="96000"/>
              </a:lnSpc>
              <a:buNone/>
            </a:pPr>
            <a:r>
              <a:rPr lang="en-US" sz="850" dirty="0">
                <a:solidFill>
                  <a:srgbClr val="464646"/>
                </a:solidFill>
                <a:latin typeface="Inter Medium" pitchFamily="34" charset="0"/>
                <a:ea typeface="Inter Medium" pitchFamily="34" charset="-122"/>
                <a:cs typeface="Inter Medium" pitchFamily="34" charset="-120"/>
              </a:rPr>
              <a:t>TECH TITANS</a:t>
            </a:r>
            <a:endParaRPr lang="en-US" sz="850" dirty="0"/>
          </a:p>
        </p:txBody>
      </p:sp>
      <p:sp>
        <p:nvSpPr>
          <p:cNvPr id="4" name="Shape 2"/>
          <p:cNvSpPr/>
          <p:nvPr/>
        </p:nvSpPr>
        <p:spPr>
          <a:xfrm>
            <a:off x="1617622" y="527348"/>
            <a:ext cx="719913" cy="208062"/>
          </a:xfrm>
          <a:prstGeom prst="roundRect">
            <a:avLst>
              <a:gd name="adj" fmla="val 7899"/>
            </a:avLst>
          </a:prstGeom>
          <a:noFill/>
          <a:ln w="6350">
            <a:solidFill>
              <a:srgbClr val="1C9770"/>
            </a:solidFill>
            <a:prstDash val="solid"/>
          </a:ln>
        </p:spPr>
      </p:sp>
      <p:sp>
        <p:nvSpPr>
          <p:cNvPr id="5" name="Text 3"/>
          <p:cNvSpPr/>
          <p:nvPr/>
        </p:nvSpPr>
        <p:spPr>
          <a:xfrm>
            <a:off x="1699773" y="568424"/>
            <a:ext cx="1165196" cy="125909"/>
          </a:xfrm>
          <a:prstGeom prst="rect">
            <a:avLst/>
          </a:prstGeom>
          <a:noFill/>
          <a:ln/>
        </p:spPr>
        <p:txBody>
          <a:bodyPr wrap="none" lIns="0" tIns="0" rIns="0" bIns="0" rtlCol="0" anchor="t"/>
          <a:lstStyle/>
          <a:p>
            <a:pPr algn="l" indent="0" marL="0">
              <a:lnSpc>
                <a:spcPct val="96000"/>
              </a:lnSpc>
              <a:buNone/>
            </a:pPr>
            <a:r>
              <a:rPr lang="en-US" sz="850" dirty="0">
                <a:solidFill>
                  <a:srgbClr val="1C9770"/>
                </a:solidFill>
                <a:latin typeface="Inter Medium" pitchFamily="34" charset="0"/>
                <a:ea typeface="Inter Medium" pitchFamily="34" charset="-122"/>
                <a:cs typeface="Inter Medium" pitchFamily="34" charset="-120"/>
              </a:rPr>
              <a:t>ROADMAP</a:t>
            </a:r>
            <a:endParaRPr lang="en-US" sz="850" dirty="0"/>
          </a:p>
        </p:txBody>
      </p:sp>
      <p:sp>
        <p:nvSpPr>
          <p:cNvPr id="6" name="Text 4"/>
          <p:cNvSpPr/>
          <p:nvPr/>
        </p:nvSpPr>
        <p:spPr>
          <a:xfrm>
            <a:off x="661475" y="780752"/>
            <a:ext cx="10868745" cy="427930"/>
          </a:xfrm>
          <a:prstGeom prst="rect">
            <a:avLst/>
          </a:prstGeom>
          <a:noFill/>
          <a:ln/>
        </p:spPr>
        <p:txBody>
          <a:bodyPr wrap="none" lIns="0" tIns="0" rIns="0" bIns="0" rtlCol="0" anchor="t"/>
          <a:lstStyle/>
          <a:p>
            <a:pPr algn="ctr" indent="0" marL="0">
              <a:lnSpc>
                <a:spcPct val="104000"/>
              </a:lnSpc>
              <a:buNone/>
            </a:pPr>
            <a:r>
              <a:rPr lang="en-US" sz="2650" dirty="0">
                <a:solidFill>
                  <a:srgbClr val="030303"/>
                </a:solidFill>
                <a:latin typeface="DM Sans SemiBold" pitchFamily="34" charset="0"/>
                <a:ea typeface="DM Sans SemiBold" pitchFamily="34" charset="-122"/>
                <a:cs typeface="DM Sans SemiBold" pitchFamily="34" charset="-120"/>
              </a:rPr>
              <a:t>Building the AvsarAI Talent Pipeline</a:t>
            </a:r>
            <a:endParaRPr lang="en-US" sz="2650" dirty="0"/>
          </a:p>
        </p:txBody>
      </p:sp>
      <p:sp>
        <p:nvSpPr>
          <p:cNvPr id="7" name="Text 5"/>
          <p:cNvSpPr/>
          <p:nvPr/>
        </p:nvSpPr>
        <p:spPr>
          <a:xfrm>
            <a:off x="661475" y="1378744"/>
            <a:ext cx="273837" cy="171152"/>
          </a:xfrm>
          <a:prstGeom prst="rect">
            <a:avLst/>
          </a:prstGeom>
          <a:noFill/>
          <a:ln/>
        </p:spPr>
        <p:txBody>
          <a:bodyPr wrap="none" lIns="0" tIns="0" rIns="0" bIns="0" rtlCol="0" anchor="ctr"/>
          <a:lstStyle/>
          <a:p>
            <a:pPr algn="l" indent="0" marL="0">
              <a:lnSpc>
                <a:spcPct val="100000"/>
              </a:lnSpc>
              <a:buNone/>
            </a:pPr>
            <a:r>
              <a:rPr lang="en-US" sz="1050" dirty="0">
                <a:solidFill>
                  <a:srgbClr val="464646"/>
                </a:solidFill>
                <a:latin typeface="DM Sans Light" pitchFamily="34" charset="0"/>
                <a:ea typeface="DM Sans Light" pitchFamily="34" charset="-122"/>
                <a:cs typeface="DM Sans Light" pitchFamily="34" charset="-120"/>
              </a:rPr>
              <a:t>01</a:t>
            </a:r>
            <a:endParaRPr lang="en-US" sz="1050" dirty="0"/>
          </a:p>
        </p:txBody>
      </p:sp>
      <p:sp>
        <p:nvSpPr>
          <p:cNvPr id="8" name="Shape 6"/>
          <p:cNvSpPr/>
          <p:nvPr/>
        </p:nvSpPr>
        <p:spPr>
          <a:xfrm>
            <a:off x="661475" y="1592461"/>
            <a:ext cx="5377621" cy="19050"/>
          </a:xfrm>
          <a:prstGeom prst="rect">
            <a:avLst/>
          </a:prstGeom>
          <a:solidFill>
            <a:srgbClr val="1C9770"/>
          </a:solidFill>
          <a:ln/>
        </p:spPr>
      </p:sp>
      <p:sp>
        <p:nvSpPr>
          <p:cNvPr id="9" name="Text 7"/>
          <p:cNvSpPr/>
          <p:nvPr/>
        </p:nvSpPr>
        <p:spPr>
          <a:xfrm>
            <a:off x="661475" y="1699022"/>
            <a:ext cx="5377621" cy="214015"/>
          </a:xfrm>
          <a:prstGeom prst="rect">
            <a:avLst/>
          </a:prstGeom>
          <a:noFill/>
          <a:ln/>
        </p:spPr>
        <p:txBody>
          <a:bodyPr wrap="none" lIns="0" tIns="0" rIns="0" bIns="0" rtlCol="0" anchor="t"/>
          <a:lstStyle/>
          <a:p>
            <a:pPr algn="l" indent="0" marL="0">
              <a:lnSpc>
                <a:spcPct val="104000"/>
              </a:lnSpc>
              <a:buNone/>
            </a:pPr>
            <a:r>
              <a:rPr lang="en-US" sz="1300" dirty="0">
                <a:solidFill>
                  <a:srgbClr val="167AC6"/>
                </a:solidFill>
                <a:latin typeface="DM Sans SemiBold" pitchFamily="34" charset="0"/>
                <a:ea typeface="DM Sans SemiBold" pitchFamily="34" charset="-122"/>
                <a:cs typeface="DM Sans SemiBold" pitchFamily="34" charset="-120"/>
              </a:rPr>
              <a:t>Phase 1 - Discover</a:t>
            </a:r>
            <a:endParaRPr lang="en-US" sz="1300" dirty="0"/>
          </a:p>
        </p:txBody>
      </p:sp>
      <p:sp>
        <p:nvSpPr>
          <p:cNvPr id="10" name="Text 8"/>
          <p:cNvSpPr/>
          <p:nvPr/>
        </p:nvSpPr>
        <p:spPr>
          <a:xfrm>
            <a:off x="661475" y="1981002"/>
            <a:ext cx="5377621" cy="200223"/>
          </a:xfrm>
          <a:prstGeom prst="rect">
            <a:avLst/>
          </a:prstGeom>
          <a:noFill/>
          <a:ln/>
        </p:spPr>
        <p:txBody>
          <a:bodyPr wrap="none" lIns="0" tIns="0" rIns="0" bIns="0" rtlCol="0" anchor="t"/>
          <a:lstStyle/>
          <a:p>
            <a:pPr algn="l" indent="0" marL="0">
              <a:lnSpc>
                <a:spcPct val="122000"/>
              </a:lnSpc>
              <a:buNone/>
            </a:pPr>
            <a:r>
              <a:rPr lang="en-US" sz="1050" b="1" dirty="0">
                <a:solidFill>
                  <a:srgbClr val="464646"/>
                </a:solidFill>
                <a:latin typeface="Inter Bold" pitchFamily="34" charset="0"/>
                <a:ea typeface="Inter Bold" pitchFamily="34" charset="-122"/>
                <a:cs typeface="Inter Bold" pitchFamily="34" charset="-120"/>
              </a:rPr>
              <a:t>Identify &amp; Profile Talent</a:t>
            </a:r>
            <a:endParaRPr lang="en-US" sz="1050" dirty="0"/>
          </a:p>
        </p:txBody>
      </p:sp>
      <p:sp>
        <p:nvSpPr>
          <p:cNvPr id="11" name="Text 9"/>
          <p:cNvSpPr/>
          <p:nvPr/>
        </p:nvSpPr>
        <p:spPr>
          <a:xfrm>
            <a:off x="661475" y="2249190"/>
            <a:ext cx="5377621" cy="919956"/>
          </a:xfrm>
          <a:prstGeom prst="rect">
            <a:avLst/>
          </a:prstGeom>
          <a:noFill/>
          <a:ln/>
        </p:spPr>
        <p:txBody>
          <a:bodyPr wrap="square" lIns="0" tIns="54786" rIns="0" bIns="0" rtlCol="0" anchor="t">
            <a:normAutofit/>
          </a:bodyPr>
          <a:lstStyle/>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Student profile</a:t>
            </a:r>
            <a:endParaRPr lang="en-US" sz="1050" dirty="0"/>
          </a:p>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Resume/skills extraction</a:t>
            </a:r>
            <a:endParaRPr lang="en-US" sz="1050" dirty="0"/>
          </a:p>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Academic details</a:t>
            </a:r>
            <a:endParaRPr lang="en-US" sz="1050" dirty="0"/>
          </a:p>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Career interests</a:t>
            </a:r>
            <a:endParaRPr lang="en-US" sz="1050" dirty="0"/>
          </a:p>
        </p:txBody>
      </p:sp>
      <p:sp>
        <p:nvSpPr>
          <p:cNvPr id="12" name="Text 10"/>
          <p:cNvSpPr/>
          <p:nvPr/>
        </p:nvSpPr>
        <p:spPr>
          <a:xfrm>
            <a:off x="6152500" y="1378744"/>
            <a:ext cx="273837" cy="171152"/>
          </a:xfrm>
          <a:prstGeom prst="rect">
            <a:avLst/>
          </a:prstGeom>
          <a:noFill/>
          <a:ln/>
        </p:spPr>
        <p:txBody>
          <a:bodyPr wrap="none" lIns="0" tIns="0" rIns="0" bIns="0" rtlCol="0" anchor="ctr"/>
          <a:lstStyle/>
          <a:p>
            <a:pPr algn="l" indent="0" marL="0">
              <a:lnSpc>
                <a:spcPct val="100000"/>
              </a:lnSpc>
              <a:buNone/>
            </a:pPr>
            <a:r>
              <a:rPr lang="en-US" sz="1050" dirty="0">
                <a:solidFill>
                  <a:srgbClr val="464646"/>
                </a:solidFill>
                <a:latin typeface="DM Sans Light" pitchFamily="34" charset="0"/>
                <a:ea typeface="DM Sans Light" pitchFamily="34" charset="-122"/>
                <a:cs typeface="DM Sans Light" pitchFamily="34" charset="-120"/>
              </a:rPr>
              <a:t>02</a:t>
            </a:r>
            <a:endParaRPr lang="en-US" sz="1050" dirty="0"/>
          </a:p>
        </p:txBody>
      </p:sp>
      <p:sp>
        <p:nvSpPr>
          <p:cNvPr id="13" name="Shape 11"/>
          <p:cNvSpPr/>
          <p:nvPr/>
        </p:nvSpPr>
        <p:spPr>
          <a:xfrm>
            <a:off x="6152500" y="1592461"/>
            <a:ext cx="5377720" cy="19050"/>
          </a:xfrm>
          <a:prstGeom prst="rect">
            <a:avLst/>
          </a:prstGeom>
          <a:solidFill>
            <a:srgbClr val="1C9770"/>
          </a:solidFill>
          <a:ln/>
        </p:spPr>
      </p:sp>
      <p:sp>
        <p:nvSpPr>
          <p:cNvPr id="14" name="Text 12"/>
          <p:cNvSpPr/>
          <p:nvPr/>
        </p:nvSpPr>
        <p:spPr>
          <a:xfrm>
            <a:off x="6152500" y="1699022"/>
            <a:ext cx="5377720" cy="214015"/>
          </a:xfrm>
          <a:prstGeom prst="rect">
            <a:avLst/>
          </a:prstGeom>
          <a:noFill/>
          <a:ln/>
        </p:spPr>
        <p:txBody>
          <a:bodyPr wrap="none" lIns="0" tIns="0" rIns="0" bIns="0" rtlCol="0" anchor="t"/>
          <a:lstStyle/>
          <a:p>
            <a:pPr algn="l" indent="0" marL="0">
              <a:lnSpc>
                <a:spcPct val="104000"/>
              </a:lnSpc>
              <a:buNone/>
            </a:pPr>
            <a:r>
              <a:rPr lang="en-US" sz="1300" dirty="0">
                <a:solidFill>
                  <a:srgbClr val="F2A900"/>
                </a:solidFill>
                <a:latin typeface="DM Sans SemiBold" pitchFamily="34" charset="0"/>
                <a:ea typeface="DM Sans SemiBold" pitchFamily="34" charset="-122"/>
                <a:cs typeface="DM Sans SemiBold" pitchFamily="34" charset="-120"/>
              </a:rPr>
              <a:t>Phase 2 - Assess</a:t>
            </a:r>
            <a:endParaRPr lang="en-US" sz="1300" dirty="0"/>
          </a:p>
        </p:txBody>
      </p:sp>
      <p:sp>
        <p:nvSpPr>
          <p:cNvPr id="15" name="Text 13"/>
          <p:cNvSpPr/>
          <p:nvPr/>
        </p:nvSpPr>
        <p:spPr>
          <a:xfrm>
            <a:off x="6152500" y="1981002"/>
            <a:ext cx="5377720" cy="200223"/>
          </a:xfrm>
          <a:prstGeom prst="rect">
            <a:avLst/>
          </a:prstGeom>
          <a:noFill/>
          <a:ln/>
        </p:spPr>
        <p:txBody>
          <a:bodyPr wrap="none" lIns="0" tIns="0" rIns="0" bIns="0" rtlCol="0" anchor="t"/>
          <a:lstStyle/>
          <a:p>
            <a:pPr algn="l" indent="0" marL="0">
              <a:lnSpc>
                <a:spcPct val="122000"/>
              </a:lnSpc>
              <a:buNone/>
            </a:pPr>
            <a:r>
              <a:rPr lang="en-US" sz="1050" b="1" dirty="0">
                <a:solidFill>
                  <a:srgbClr val="464646"/>
                </a:solidFill>
                <a:latin typeface="Inter Bold" pitchFamily="34" charset="0"/>
                <a:ea typeface="Inter Bold" pitchFamily="34" charset="-122"/>
                <a:cs typeface="Inter Bold" pitchFamily="34" charset="-120"/>
              </a:rPr>
              <a:t>Measure Readiness</a:t>
            </a:r>
            <a:endParaRPr lang="en-US" sz="1050" dirty="0"/>
          </a:p>
        </p:txBody>
      </p:sp>
      <p:sp>
        <p:nvSpPr>
          <p:cNvPr id="16" name="Text 14"/>
          <p:cNvSpPr/>
          <p:nvPr/>
        </p:nvSpPr>
        <p:spPr>
          <a:xfrm>
            <a:off x="6152500" y="2249190"/>
            <a:ext cx="5377720" cy="680045"/>
          </a:xfrm>
          <a:prstGeom prst="rect">
            <a:avLst/>
          </a:prstGeom>
          <a:noFill/>
          <a:ln/>
        </p:spPr>
        <p:txBody>
          <a:bodyPr wrap="square" lIns="0" tIns="54786" rIns="0" bIns="0" rtlCol="0" anchor="t">
            <a:normAutofit/>
          </a:bodyPr>
          <a:lstStyle/>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Technical/aptitude/soft-skill assessments</a:t>
            </a:r>
            <a:endParaRPr lang="en-US" sz="1050" dirty="0"/>
          </a:p>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Skill-gap analysis</a:t>
            </a:r>
            <a:endParaRPr lang="en-US" sz="1050" dirty="0"/>
          </a:p>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Talent/readiness score</a:t>
            </a:r>
            <a:endParaRPr lang="en-US" sz="1050" dirty="0"/>
          </a:p>
        </p:txBody>
      </p:sp>
      <p:sp>
        <p:nvSpPr>
          <p:cNvPr id="17" name="Text 15"/>
          <p:cNvSpPr/>
          <p:nvPr/>
        </p:nvSpPr>
        <p:spPr>
          <a:xfrm>
            <a:off x="661475" y="3385245"/>
            <a:ext cx="273837" cy="171152"/>
          </a:xfrm>
          <a:prstGeom prst="rect">
            <a:avLst/>
          </a:prstGeom>
          <a:noFill/>
          <a:ln/>
        </p:spPr>
        <p:txBody>
          <a:bodyPr wrap="none" lIns="0" tIns="0" rIns="0" bIns="0" rtlCol="0" anchor="ctr"/>
          <a:lstStyle/>
          <a:p>
            <a:pPr algn="l" indent="0" marL="0">
              <a:lnSpc>
                <a:spcPct val="100000"/>
              </a:lnSpc>
              <a:buNone/>
            </a:pPr>
            <a:r>
              <a:rPr lang="en-US" sz="1050" dirty="0">
                <a:solidFill>
                  <a:srgbClr val="464646"/>
                </a:solidFill>
                <a:latin typeface="DM Sans Light" pitchFamily="34" charset="0"/>
                <a:ea typeface="DM Sans Light" pitchFamily="34" charset="-122"/>
                <a:cs typeface="DM Sans Light" pitchFamily="34" charset="-120"/>
              </a:rPr>
              <a:t>03</a:t>
            </a:r>
            <a:endParaRPr lang="en-US" sz="1050" dirty="0"/>
          </a:p>
        </p:txBody>
      </p:sp>
      <p:sp>
        <p:nvSpPr>
          <p:cNvPr id="18" name="Shape 16"/>
          <p:cNvSpPr/>
          <p:nvPr/>
        </p:nvSpPr>
        <p:spPr>
          <a:xfrm>
            <a:off x="661475" y="3598962"/>
            <a:ext cx="5377621" cy="19050"/>
          </a:xfrm>
          <a:prstGeom prst="rect">
            <a:avLst/>
          </a:prstGeom>
          <a:solidFill>
            <a:srgbClr val="1C9770"/>
          </a:solidFill>
          <a:ln/>
        </p:spPr>
      </p:sp>
      <p:sp>
        <p:nvSpPr>
          <p:cNvPr id="19" name="Text 17"/>
          <p:cNvSpPr/>
          <p:nvPr/>
        </p:nvSpPr>
        <p:spPr>
          <a:xfrm>
            <a:off x="661475" y="3705523"/>
            <a:ext cx="5377621" cy="214015"/>
          </a:xfrm>
          <a:prstGeom prst="rect">
            <a:avLst/>
          </a:prstGeom>
          <a:noFill/>
          <a:ln/>
        </p:spPr>
        <p:txBody>
          <a:bodyPr wrap="none" lIns="0" tIns="0" rIns="0" bIns="0" rtlCol="0" anchor="t"/>
          <a:lstStyle/>
          <a:p>
            <a:pPr algn="l" indent="0" marL="0">
              <a:lnSpc>
                <a:spcPct val="104000"/>
              </a:lnSpc>
              <a:buNone/>
            </a:pPr>
            <a:r>
              <a:rPr lang="en-US" sz="1300" dirty="0">
                <a:solidFill>
                  <a:srgbClr val="1F8A4C"/>
                </a:solidFill>
                <a:latin typeface="DM Sans SemiBold" pitchFamily="34" charset="0"/>
                <a:ea typeface="DM Sans SemiBold" pitchFamily="34" charset="-122"/>
                <a:cs typeface="DM Sans SemiBold" pitchFamily="34" charset="-120"/>
              </a:rPr>
              <a:t>Phase 3 - Develop</a:t>
            </a:r>
            <a:endParaRPr lang="en-US" sz="1300" dirty="0"/>
          </a:p>
        </p:txBody>
      </p:sp>
      <p:sp>
        <p:nvSpPr>
          <p:cNvPr id="20" name="Text 18"/>
          <p:cNvSpPr/>
          <p:nvPr/>
        </p:nvSpPr>
        <p:spPr>
          <a:xfrm>
            <a:off x="661475" y="3987502"/>
            <a:ext cx="5377621" cy="200223"/>
          </a:xfrm>
          <a:prstGeom prst="rect">
            <a:avLst/>
          </a:prstGeom>
          <a:noFill/>
          <a:ln/>
        </p:spPr>
        <p:txBody>
          <a:bodyPr wrap="none" lIns="0" tIns="0" rIns="0" bIns="0" rtlCol="0" anchor="t"/>
          <a:lstStyle/>
          <a:p>
            <a:pPr algn="l" indent="0" marL="0">
              <a:lnSpc>
                <a:spcPct val="122000"/>
              </a:lnSpc>
              <a:buNone/>
            </a:pPr>
            <a:r>
              <a:rPr lang="en-US" sz="1050" b="1" dirty="0">
                <a:solidFill>
                  <a:srgbClr val="464646"/>
                </a:solidFill>
                <a:latin typeface="Inter Bold" pitchFamily="34" charset="0"/>
                <a:ea typeface="Inter Bold" pitchFamily="34" charset="-122"/>
                <a:cs typeface="Inter Bold" pitchFamily="34" charset="-120"/>
              </a:rPr>
              <a:t>Build Missing Skills</a:t>
            </a:r>
            <a:endParaRPr lang="en-US" sz="1050" dirty="0"/>
          </a:p>
        </p:txBody>
      </p:sp>
      <p:sp>
        <p:nvSpPr>
          <p:cNvPr id="21" name="Text 19"/>
          <p:cNvSpPr/>
          <p:nvPr/>
        </p:nvSpPr>
        <p:spPr>
          <a:xfrm>
            <a:off x="661475" y="4255691"/>
            <a:ext cx="5377621" cy="919956"/>
          </a:xfrm>
          <a:prstGeom prst="rect">
            <a:avLst/>
          </a:prstGeom>
          <a:noFill/>
          <a:ln/>
        </p:spPr>
        <p:txBody>
          <a:bodyPr wrap="square" lIns="0" tIns="54786" rIns="0" bIns="0" rtlCol="0" anchor="t">
            <a:normAutofit/>
          </a:bodyPr>
          <a:lstStyle/>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Personalized course recommendations</a:t>
            </a:r>
            <a:endParaRPr lang="en-US" sz="1050" dirty="0"/>
          </a:p>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Projects &amp; certifications</a:t>
            </a:r>
            <a:endParaRPr lang="en-US" sz="1050" dirty="0"/>
          </a:p>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Progress tracking</a:t>
            </a:r>
            <a:endParaRPr lang="en-US" sz="1050" dirty="0"/>
          </a:p>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Skill-gap closure</a:t>
            </a:r>
            <a:endParaRPr lang="en-US" sz="1050" dirty="0"/>
          </a:p>
        </p:txBody>
      </p:sp>
      <p:sp>
        <p:nvSpPr>
          <p:cNvPr id="22" name="Text 20"/>
          <p:cNvSpPr/>
          <p:nvPr/>
        </p:nvSpPr>
        <p:spPr>
          <a:xfrm>
            <a:off x="6152500" y="3385245"/>
            <a:ext cx="273837" cy="171152"/>
          </a:xfrm>
          <a:prstGeom prst="rect">
            <a:avLst/>
          </a:prstGeom>
          <a:noFill/>
          <a:ln/>
        </p:spPr>
        <p:txBody>
          <a:bodyPr wrap="none" lIns="0" tIns="0" rIns="0" bIns="0" rtlCol="0" anchor="ctr"/>
          <a:lstStyle/>
          <a:p>
            <a:pPr algn="l" indent="0" marL="0">
              <a:lnSpc>
                <a:spcPct val="100000"/>
              </a:lnSpc>
              <a:buNone/>
            </a:pPr>
            <a:r>
              <a:rPr lang="en-US" sz="1050" dirty="0">
                <a:solidFill>
                  <a:srgbClr val="464646"/>
                </a:solidFill>
                <a:latin typeface="DM Sans Light" pitchFamily="34" charset="0"/>
                <a:ea typeface="DM Sans Light" pitchFamily="34" charset="-122"/>
                <a:cs typeface="DM Sans Light" pitchFamily="34" charset="-120"/>
              </a:rPr>
              <a:t>04</a:t>
            </a:r>
            <a:endParaRPr lang="en-US" sz="1050" dirty="0"/>
          </a:p>
        </p:txBody>
      </p:sp>
      <p:sp>
        <p:nvSpPr>
          <p:cNvPr id="23" name="Shape 21"/>
          <p:cNvSpPr/>
          <p:nvPr/>
        </p:nvSpPr>
        <p:spPr>
          <a:xfrm>
            <a:off x="6152500" y="3598962"/>
            <a:ext cx="5377720" cy="19050"/>
          </a:xfrm>
          <a:prstGeom prst="rect">
            <a:avLst/>
          </a:prstGeom>
          <a:solidFill>
            <a:srgbClr val="1C9770"/>
          </a:solidFill>
          <a:ln/>
        </p:spPr>
      </p:sp>
      <p:sp>
        <p:nvSpPr>
          <p:cNvPr id="24" name="Text 22"/>
          <p:cNvSpPr/>
          <p:nvPr/>
        </p:nvSpPr>
        <p:spPr>
          <a:xfrm>
            <a:off x="6152500" y="3705523"/>
            <a:ext cx="5377720" cy="214015"/>
          </a:xfrm>
          <a:prstGeom prst="rect">
            <a:avLst/>
          </a:prstGeom>
          <a:noFill/>
          <a:ln/>
        </p:spPr>
        <p:txBody>
          <a:bodyPr wrap="none" lIns="0" tIns="0" rIns="0" bIns="0" rtlCol="0" anchor="t"/>
          <a:lstStyle/>
          <a:p>
            <a:pPr algn="l" indent="0" marL="0">
              <a:lnSpc>
                <a:spcPct val="104000"/>
              </a:lnSpc>
              <a:buNone/>
            </a:pPr>
            <a:r>
              <a:rPr lang="en-US" sz="1300" dirty="0">
                <a:solidFill>
                  <a:srgbClr val="7A3FF2"/>
                </a:solidFill>
                <a:latin typeface="DM Sans SemiBold" pitchFamily="34" charset="0"/>
                <a:ea typeface="DM Sans SemiBold" pitchFamily="34" charset="-122"/>
                <a:cs typeface="DM Sans SemiBold" pitchFamily="34" charset="-120"/>
              </a:rPr>
              <a:t>Phase 4 - Connect</a:t>
            </a:r>
            <a:endParaRPr lang="en-US" sz="1300" dirty="0"/>
          </a:p>
        </p:txBody>
      </p:sp>
      <p:sp>
        <p:nvSpPr>
          <p:cNvPr id="25" name="Text 23"/>
          <p:cNvSpPr/>
          <p:nvPr/>
        </p:nvSpPr>
        <p:spPr>
          <a:xfrm>
            <a:off x="6152500" y="3987502"/>
            <a:ext cx="5377720" cy="200223"/>
          </a:xfrm>
          <a:prstGeom prst="rect">
            <a:avLst/>
          </a:prstGeom>
          <a:noFill/>
          <a:ln/>
        </p:spPr>
        <p:txBody>
          <a:bodyPr wrap="none" lIns="0" tIns="0" rIns="0" bIns="0" rtlCol="0" anchor="t"/>
          <a:lstStyle/>
          <a:p>
            <a:pPr algn="l" indent="0" marL="0">
              <a:lnSpc>
                <a:spcPct val="122000"/>
              </a:lnSpc>
              <a:buNone/>
            </a:pPr>
            <a:r>
              <a:rPr lang="en-US" sz="1050" b="1" dirty="0">
                <a:solidFill>
                  <a:srgbClr val="464646"/>
                </a:solidFill>
                <a:latin typeface="Inter Bold" pitchFamily="34" charset="0"/>
                <a:ea typeface="Inter Bold" pitchFamily="34" charset="-122"/>
                <a:cs typeface="Inter Bold" pitchFamily="34" charset="-120"/>
              </a:rPr>
              <a:t>Industry → Internship → Placement</a:t>
            </a:r>
            <a:endParaRPr lang="en-US" sz="1050" dirty="0"/>
          </a:p>
        </p:txBody>
      </p:sp>
      <p:sp>
        <p:nvSpPr>
          <p:cNvPr id="26" name="Text 24"/>
          <p:cNvSpPr/>
          <p:nvPr/>
        </p:nvSpPr>
        <p:spPr>
          <a:xfrm>
            <a:off x="6152500" y="4255691"/>
            <a:ext cx="5377720" cy="919956"/>
          </a:xfrm>
          <a:prstGeom prst="rect">
            <a:avLst/>
          </a:prstGeom>
          <a:noFill/>
          <a:ln/>
        </p:spPr>
        <p:txBody>
          <a:bodyPr wrap="square" lIns="0" tIns="54786" rIns="0" bIns="0" rtlCol="0" anchor="t">
            <a:normAutofit/>
          </a:bodyPr>
          <a:lstStyle/>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AI-matched internships</a:t>
            </a:r>
            <a:endParaRPr lang="en-US" sz="1050" dirty="0"/>
          </a:p>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Company shortlisting</a:t>
            </a:r>
            <a:endParaRPr lang="en-US" sz="1050" dirty="0"/>
          </a:p>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Internship performance</a:t>
            </a:r>
            <a:endParaRPr lang="en-US" sz="1050" dirty="0"/>
          </a:p>
          <a:p>
            <a:pPr algn="l" marL="213360" indent="-213360">
              <a:lnSpc>
                <a:spcPct val="122000"/>
              </a:lnSpc>
              <a:buSzPct val="100000"/>
              <a:buChar char="•"/>
            </a:pPr>
            <a:r>
              <a:rPr lang="en-US" sz="1050" dirty="0">
                <a:solidFill>
                  <a:srgbClr val="464646"/>
                </a:solidFill>
                <a:latin typeface="Inter Medium" pitchFamily="34" charset="0"/>
                <a:ea typeface="Inter Medium" pitchFamily="34" charset="-122"/>
                <a:cs typeface="Inter Medium" pitchFamily="34" charset="-120"/>
              </a:rPr>
              <a:t>Placement opportunities</a:t>
            </a:r>
            <a:endParaRPr lang="en-US" sz="1050" dirty="0"/>
          </a:p>
        </p:txBody>
      </p:sp>
      <p:sp>
        <p:nvSpPr>
          <p:cNvPr id="27" name="Text 25"/>
          <p:cNvSpPr/>
          <p:nvPr/>
        </p:nvSpPr>
        <p:spPr>
          <a:xfrm>
            <a:off x="356682" y="5405934"/>
            <a:ext cx="11478330" cy="200223"/>
          </a:xfrm>
          <a:prstGeom prst="rect">
            <a:avLst/>
          </a:prstGeom>
          <a:noFill/>
          <a:ln/>
        </p:spPr>
        <p:txBody>
          <a:bodyPr wrap="none" lIns="0" tIns="0" rIns="0" bIns="0" rtlCol="0" anchor="t"/>
          <a:lstStyle/>
          <a:p>
            <a:pPr algn="ctr" indent="0" marL="0">
              <a:lnSpc>
                <a:spcPct val="122000"/>
              </a:lnSpc>
              <a:buNone/>
            </a:pPr>
            <a:r>
              <a:rPr lang="en-US" sz="1050" dirty="0">
                <a:solidFill>
                  <a:srgbClr val="464646"/>
                </a:solidFill>
                <a:latin typeface="Inter Medium" pitchFamily="34" charset="0"/>
                <a:ea typeface="Inter Medium" pitchFamily="34" charset="-122"/>
                <a:cs typeface="Inter Medium" pitchFamily="34" charset="-120"/>
              </a:rPr>
              <a:t>SIH 2026  |  PS SIH26044  |  Ministry of AvsarAI</a:t>
            </a:r>
            <a:endParaRPr lang="en-US" sz="1050" dirty="0"/>
          </a:p>
        </p:txBody>
      </p:sp>
      <p:sp>
        <p:nvSpPr>
          <p:cNvPr id="28" name="Text 26"/>
          <p:cNvSpPr/>
          <p:nvPr/>
        </p:nvSpPr>
        <p:spPr>
          <a:xfrm>
            <a:off x="866853" y="5903813"/>
            <a:ext cx="10663368" cy="256778"/>
          </a:xfrm>
          <a:prstGeom prst="rect">
            <a:avLst/>
          </a:prstGeom>
          <a:noFill/>
          <a:ln/>
        </p:spPr>
        <p:txBody>
          <a:bodyPr wrap="none" lIns="0" tIns="0" rIns="0" bIns="0" rtlCol="0" anchor="t"/>
          <a:lstStyle/>
          <a:p>
            <a:pPr algn="ctr" indent="0" marL="0">
              <a:lnSpc>
                <a:spcPct val="104000"/>
              </a:lnSpc>
              <a:buNone/>
            </a:pPr>
            <a:r>
              <a:rPr lang="en-US" sz="1600" dirty="0">
                <a:solidFill>
                  <a:srgbClr val="030303"/>
                </a:solidFill>
                <a:latin typeface="DM Sans SemiBold" pitchFamily="34" charset="0"/>
                <a:ea typeface="DM Sans SemiBold" pitchFamily="34" charset="-122"/>
                <a:cs typeface="DM Sans SemiBold" pitchFamily="34" charset="-120"/>
              </a:rPr>
              <a:t>Connect Skills. Create Opportunities. Build AvsarAI Careers.</a:t>
            </a:r>
            <a:endParaRPr lang="en-US" sz="1600" dirty="0"/>
          </a:p>
        </p:txBody>
      </p:sp>
      <p:sp>
        <p:nvSpPr>
          <p:cNvPr id="29" name="Shape 27"/>
          <p:cNvSpPr/>
          <p:nvPr/>
        </p:nvSpPr>
        <p:spPr>
          <a:xfrm>
            <a:off x="661475" y="5733752"/>
            <a:ext cx="19050" cy="596900"/>
          </a:xfrm>
          <a:prstGeom prst="roundRect">
            <a:avLst>
              <a:gd name="adj" fmla="val 49999"/>
            </a:avLst>
          </a:prstGeom>
          <a:solidFill>
            <a:srgbClr val="1C977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2026-08-22T14:17:08Z</dcterms:created>
  <dcterms:modified xsi:type="dcterms:W3CDTF">2026-08-22T14:17:08Z</dcterms:modified>
</cp:coreProperties>
</file>